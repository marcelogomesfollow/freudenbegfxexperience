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4846320"/>
            <a:ext cx="2011680" cy="228600"/>
          </a:xfrm>
          <a:prstGeom prst="rect">
            <a:avLst/>
          </a:prstGeom>
          <a:solidFill>
            <a:srgbClr val="8B6914"/>
          </a:solidFill>
          <a:ln w="3810">
            <a:solidFill>
              <a:srgbClr val="C59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48463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C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4846320"/>
            <a:ext cx="2011680" cy="228600"/>
          </a:xfrm>
          <a:prstGeom prst="rect">
            <a:avLst/>
          </a:prstGeom>
          <a:solidFill>
            <a:srgbClr val="8B6914"/>
          </a:solidFill>
          <a:ln w="3810">
            <a:solidFill>
              <a:srgbClr val="C59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48463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C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D2E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371600"/>
            <a:ext cx="45720" cy="2011680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234440"/>
            <a:ext cx="5943600" cy="2286000"/>
          </a:xfrm>
          <a:prstGeom prst="rect">
            <a:avLst/>
          </a:prstGeom>
          <a:solidFill>
            <a:srgbClr val="1A2D47"/>
          </a:solidFill>
          <a:ln w="6350">
            <a:solidFill>
              <a:srgbClr val="2A40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37160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FX Experience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097280" y="21031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C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Talent Exchange &amp; Development Platform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25146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8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Talent Exchange &amp; Development Platform</a:t>
            </a:r>
            <a:endParaRPr lang="en-US" sz="14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3840480"/>
            <a:ext cx="18288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108960" y="3977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Freudenberg Group  |  2026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132320" y="1645920"/>
            <a:ext cx="1280160" cy="1280160"/>
          </a:xfrm>
          <a:prstGeom prst="ellipse">
            <a:avLst/>
          </a:prstGeom>
          <a:solidFill>
            <a:srgbClr val="C5941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2340" y="1805940"/>
            <a:ext cx="960120" cy="96012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858000" y="4846320"/>
            <a:ext cx="2011680" cy="228600"/>
          </a:xfrm>
          <a:prstGeom prst="rect">
            <a:avLst/>
          </a:prstGeom>
          <a:solidFill>
            <a:srgbClr val="8B6914"/>
          </a:solidFill>
          <a:ln w="3810">
            <a:solidFill>
              <a:srgbClr val="C5941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858000" y="48463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C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D2E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FX Experience?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complete platform to manage the entire global exchange cycle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749808"/>
            <a:ext cx="1097280" cy="27432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4800600"/>
            <a:ext cx="8229600" cy="4572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FX Experience  ·  Freudenberg Group  ·  FollowLabs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0" y="48463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6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21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40080" y="1280160"/>
            <a:ext cx="3840480" cy="3291840"/>
          </a:xfrm>
          <a:prstGeom prst="rect">
            <a:avLst/>
          </a:prstGeom>
          <a:solidFill>
            <a:srgbClr val="1A2D47"/>
          </a:solidFill>
          <a:ln w="6350">
            <a:solidFill>
              <a:srgbClr val="8B691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280160"/>
            <a:ext cx="3803904" cy="36576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1463040"/>
            <a:ext cx="32918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C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All-in-one digital platform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Manages global exchanges, professional development, innovation and mentoring across </a:t>
            </a:r>
            <a:pPr indent="0" marL="0">
              <a:buNone/>
            </a:pPr>
            <a:r>
              <a:rPr lang="en-US" sz="1200" b="1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9+ Freudenberg business units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employees across departments and geographies for cross-functional skills development and organizational knowledge transfer.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SKIPPER AI (FollowLabs) integrated across 8+ features, from course creation to diary analysis and A3 report generation.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46320" y="1280160"/>
            <a:ext cx="1828800" cy="1508760"/>
          </a:xfrm>
          <a:prstGeom prst="rect">
            <a:avLst/>
          </a:prstGeom>
          <a:solidFill>
            <a:srgbClr val="1A2D47"/>
          </a:solidFill>
          <a:ln w="6350">
            <a:solidFill>
              <a:srgbClr val="2A40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40680" y="1417320"/>
            <a:ext cx="548640" cy="548640"/>
          </a:xfrm>
          <a:prstGeom prst="ellipse">
            <a:avLst/>
          </a:prstGeom>
          <a:solidFill>
            <a:srgbClr val="293B5F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9260" y="1485900"/>
            <a:ext cx="411480" cy="41148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846320" y="2011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16+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4846320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A8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858000" y="1280160"/>
            <a:ext cx="1828800" cy="1508760"/>
          </a:xfrm>
          <a:prstGeom prst="rect">
            <a:avLst/>
          </a:prstGeom>
          <a:solidFill>
            <a:srgbClr val="1A2D47"/>
          </a:solidFill>
          <a:ln w="6350">
            <a:solidFill>
              <a:srgbClr val="2A406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452360" y="1417320"/>
            <a:ext cx="548640" cy="548640"/>
          </a:xfrm>
          <a:prstGeom prst="ellipse">
            <a:avLst/>
          </a:prstGeom>
          <a:solidFill>
            <a:srgbClr val="3A5280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0940" y="1485900"/>
            <a:ext cx="411480" cy="4114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858000" y="2011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9+</a:t>
            </a:r>
            <a:endParaRPr lang="en-US" sz="2800" dirty="0"/>
          </a:p>
        </p:txBody>
      </p:sp>
      <p:sp>
        <p:nvSpPr>
          <p:cNvPr id="22" name="Text 18"/>
          <p:cNvSpPr/>
          <p:nvPr/>
        </p:nvSpPr>
        <p:spPr>
          <a:xfrm>
            <a:off x="6858000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A8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4846320" y="2971800"/>
            <a:ext cx="1828800" cy="1508760"/>
          </a:xfrm>
          <a:prstGeom prst="rect">
            <a:avLst/>
          </a:prstGeom>
          <a:solidFill>
            <a:srgbClr val="1A2D47"/>
          </a:solidFill>
          <a:ln w="6350">
            <a:solidFill>
              <a:srgbClr val="2A4060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5440680" y="3108960"/>
            <a:ext cx="548640" cy="548640"/>
          </a:xfrm>
          <a:prstGeom prst="ellipse">
            <a:avLst/>
          </a:prstGeom>
          <a:solidFill>
            <a:srgbClr val="C5941A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9260" y="3177540"/>
            <a:ext cx="411480" cy="41148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846320" y="3703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8+</a:t>
            </a:r>
            <a:endParaRPr lang="en-US" sz="2800" dirty="0"/>
          </a:p>
        </p:txBody>
      </p:sp>
      <p:sp>
        <p:nvSpPr>
          <p:cNvPr id="27" name="Text 22"/>
          <p:cNvSpPr/>
          <p:nvPr/>
        </p:nvSpPr>
        <p:spPr>
          <a:xfrm>
            <a:off x="4846320" y="4069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 with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A8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Integrated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6858000" y="2971800"/>
            <a:ext cx="1828800" cy="1508760"/>
          </a:xfrm>
          <a:prstGeom prst="rect">
            <a:avLst/>
          </a:prstGeom>
          <a:solidFill>
            <a:srgbClr val="1A2D47"/>
          </a:solidFill>
          <a:ln w="6350">
            <a:solidFill>
              <a:srgbClr val="2A4060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7452360" y="3108960"/>
            <a:ext cx="548640" cy="548640"/>
          </a:xfrm>
          <a:prstGeom prst="ellipse">
            <a:avLst/>
          </a:prstGeom>
          <a:solidFill>
            <a:srgbClr val="293B5F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0940" y="3177540"/>
            <a:ext cx="411480" cy="41148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858000" y="3703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32" name="Text 26"/>
          <p:cNvSpPr/>
          <p:nvPr/>
        </p:nvSpPr>
        <p:spPr>
          <a:xfrm>
            <a:off x="6858000" y="4069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A8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(PT/EN/DE)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D2E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16+ integrated modules organized in 4 strategic pillars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749808"/>
            <a:ext cx="1097280" cy="27432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4800600"/>
            <a:ext cx="8229600" cy="4572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FX Experience  ·  Freudenberg Group  ·  FollowLabs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0" y="48463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6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21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1234440"/>
            <a:ext cx="1965960" cy="640080"/>
          </a:xfrm>
          <a:prstGeom prst="rect">
            <a:avLst/>
          </a:prstGeom>
          <a:solidFill>
            <a:srgbClr val="293B5F"/>
          </a:solidFill>
          <a:ln w="3810">
            <a:solidFill>
              <a:srgbClr val="8B691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23444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Exchange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Mobility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965960"/>
            <a:ext cx="1965960" cy="2651760"/>
          </a:xfrm>
          <a:prstGeom prst="rect">
            <a:avLst/>
          </a:prstGeom>
          <a:solidFill>
            <a:srgbClr val="1A2D47"/>
          </a:solidFill>
          <a:ln w="6350">
            <a:solidFill>
              <a:srgbClr val="2A40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148840"/>
            <a:ext cx="16916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Exchange Center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Approvals (11 steps)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 &amp; Events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06040" y="1234440"/>
            <a:ext cx="1965960" cy="640080"/>
          </a:xfrm>
          <a:prstGeom prst="rect">
            <a:avLst/>
          </a:prstGeom>
          <a:solidFill>
            <a:srgbClr val="C5941A"/>
          </a:solidFill>
          <a:ln w="3810">
            <a:solidFill>
              <a:srgbClr val="8B691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06040" y="123444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Development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606040" y="1965960"/>
            <a:ext cx="1965960" cy="2651760"/>
          </a:xfrm>
          <a:prstGeom prst="rect">
            <a:avLst/>
          </a:prstGeom>
          <a:solidFill>
            <a:srgbClr val="1A2D47"/>
          </a:solidFill>
          <a:ln w="6350">
            <a:solidFill>
              <a:srgbClr val="2A40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2148840"/>
            <a:ext cx="16916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Hub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Mentorship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Diary 4.0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 Reports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1234440"/>
            <a:ext cx="1965960" cy="640080"/>
          </a:xfrm>
          <a:prstGeom prst="rect">
            <a:avLst/>
          </a:prstGeom>
          <a:solidFill>
            <a:srgbClr val="3A5280"/>
          </a:solidFill>
          <a:ln w="3810">
            <a:solidFill>
              <a:srgbClr val="8B691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23444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Ideation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1965960"/>
            <a:ext cx="1965960" cy="2651760"/>
          </a:xfrm>
          <a:prstGeom prst="rect">
            <a:avLst/>
          </a:prstGeom>
          <a:solidFill>
            <a:srgbClr val="1A2D47"/>
          </a:solidFill>
          <a:ln w="6350">
            <a:solidFill>
              <a:srgbClr val="2A40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148840"/>
            <a:ext cx="16916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Labs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Idea + ICE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Workflow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 &amp; Analytics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03720" y="1234440"/>
            <a:ext cx="1965960" cy="640080"/>
          </a:xfrm>
          <a:prstGeom prst="rect">
            <a:avLst/>
          </a:prstGeom>
          <a:solidFill>
            <a:srgbClr val="5B7B9D"/>
          </a:solidFill>
          <a:ln w="3810">
            <a:solidFill>
              <a:srgbClr val="8B691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03720" y="123444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Insights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903720" y="1965960"/>
            <a:ext cx="1965960" cy="2651760"/>
          </a:xfrm>
          <a:prstGeom prst="rect">
            <a:avLst/>
          </a:prstGeom>
          <a:solidFill>
            <a:srgbClr val="1A2D47"/>
          </a:solidFill>
          <a:ln w="6350">
            <a:solidFill>
              <a:srgbClr val="2A40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0" y="2148840"/>
            <a:ext cx="16916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Dashboard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Talent Map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Resources Hub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 &amp; Audit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D2E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Dashboard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panel with real-time program overview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749808"/>
            <a:ext cx="1097280" cy="27432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4800600"/>
            <a:ext cx="8229600" cy="4572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FX Experience  ·  Freudenberg Group  ·  FollowLabs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0" y="48463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6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21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40080" y="1234440"/>
            <a:ext cx="1874520" cy="914400"/>
          </a:xfrm>
          <a:prstGeom prst="rect">
            <a:avLst/>
          </a:prstGeom>
          <a:solidFill>
            <a:srgbClr val="1A2D47"/>
          </a:solidFill>
          <a:ln w="6350">
            <a:solidFill>
              <a:srgbClr val="8B691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234440"/>
            <a:ext cx="1837944" cy="36576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32588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0080" y="17373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Participants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697480" y="1234440"/>
            <a:ext cx="1874520" cy="914400"/>
          </a:xfrm>
          <a:prstGeom prst="rect">
            <a:avLst/>
          </a:prstGeom>
          <a:solidFill>
            <a:srgbClr val="1A2D47"/>
          </a:solidFill>
          <a:ln w="6350">
            <a:solidFill>
              <a:srgbClr val="8B691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15768" y="1234440"/>
            <a:ext cx="1837944" cy="36576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16" name="Text 14"/>
          <p:cNvSpPr/>
          <p:nvPr/>
        </p:nvSpPr>
        <p:spPr>
          <a:xfrm>
            <a:off x="2697480" y="132588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697480" y="17373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Opportunities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1234440"/>
            <a:ext cx="1874520" cy="914400"/>
          </a:xfrm>
          <a:prstGeom prst="rect">
            <a:avLst/>
          </a:prstGeom>
          <a:solidFill>
            <a:srgbClr val="1A2D47"/>
          </a:solidFill>
          <a:ln w="6350">
            <a:solidFill>
              <a:srgbClr val="8B691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73168" y="1234440"/>
            <a:ext cx="1837944" cy="36576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132588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754880" y="17373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Challenges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12280" y="1234440"/>
            <a:ext cx="1874520" cy="914400"/>
          </a:xfrm>
          <a:prstGeom prst="rect">
            <a:avLst/>
          </a:prstGeom>
          <a:solidFill>
            <a:srgbClr val="1A2D47"/>
          </a:solidFill>
          <a:ln w="6350">
            <a:solidFill>
              <a:srgbClr val="8B691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30568" y="1234440"/>
            <a:ext cx="1837944" cy="36576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24" name="Text 22"/>
          <p:cNvSpPr/>
          <p:nvPr/>
        </p:nvSpPr>
        <p:spPr>
          <a:xfrm>
            <a:off x="6812280" y="132588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812280" y="17373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Submitted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" y="2377440"/>
            <a:ext cx="3931920" cy="2194560"/>
          </a:xfrm>
          <a:prstGeom prst="rect">
            <a:avLst/>
          </a:prstGeom>
          <a:solidFill>
            <a:srgbClr val="1A2D47"/>
          </a:solidFill>
          <a:ln w="6350">
            <a:solidFill>
              <a:srgbClr val="2A40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2468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Feed — Real Time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22960" y="2743200"/>
            <a:ext cx="731520" cy="27432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288036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 Silva completed Design Thinking module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Bruno Costa submitted new idea in Innovation Labs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Eduarda Lima scheduled mentoring with Fábio Pereira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Gabriela Ramos approved Carla Dias' checklist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46320" y="2377440"/>
            <a:ext cx="3840480" cy="2194560"/>
          </a:xfrm>
          <a:prstGeom prst="rect">
            <a:avLst/>
          </a:prstGeom>
          <a:solidFill>
            <a:srgbClr val="1A2D47"/>
          </a:solidFill>
          <a:ln w="6350">
            <a:solidFill>
              <a:srgbClr val="8B691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64608" y="2377440"/>
            <a:ext cx="3803904" cy="36576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0" y="2468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Talent Map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029200" y="2743200"/>
            <a:ext cx="731520" cy="27432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34" name="Shape 32"/>
          <p:cNvSpPr/>
          <p:nvPr/>
        </p:nvSpPr>
        <p:spPr>
          <a:xfrm>
            <a:off x="6126480" y="3017520"/>
            <a:ext cx="1371600" cy="1371600"/>
          </a:xfrm>
          <a:prstGeom prst="ellipse">
            <a:avLst/>
          </a:prstGeom>
          <a:solidFill>
            <a:srgbClr val="293B5F"/>
          </a:solidFill>
          <a:ln/>
        </p:spPr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7930" y="3188970"/>
            <a:ext cx="1028700" cy="102870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5029200" y="30175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map with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participant locations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Filters by unit, status and period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D2E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Exchange Center &amp; Approvals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cycle: from opportunity to exchange execution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749808"/>
            <a:ext cx="1097280" cy="27432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4800600"/>
            <a:ext cx="8229600" cy="4572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FX Experience  ·  Freudenberg Group  ·  FollowLabs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0" y="48463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6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21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40080" y="1234440"/>
            <a:ext cx="3931920" cy="3383280"/>
          </a:xfrm>
          <a:prstGeom prst="rect">
            <a:avLst/>
          </a:prstGeom>
          <a:solidFill>
            <a:srgbClr val="1A2D47"/>
          </a:solidFill>
          <a:ln w="6350">
            <a:solidFill>
              <a:srgbClr val="8B691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234440"/>
            <a:ext cx="3895344" cy="36576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1417320"/>
            <a:ext cx="457200" cy="457200"/>
          </a:xfrm>
          <a:prstGeom prst="ellipse">
            <a:avLst/>
          </a:prstGeom>
          <a:solidFill>
            <a:srgbClr val="293B5F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110" y="1474470"/>
            <a:ext cx="342900" cy="3429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417320" y="1417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Exchange Center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22960" y="1920240"/>
            <a:ext cx="731520" cy="27432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20574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rotation opportunities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22960" y="22585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Cards with title, company, duration, skills and location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22960" y="258775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filters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22960" y="27889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area, competency or Freudenberg unit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22960" y="311810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highlights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22960" y="331927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positions with gold border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22960" y="364845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Pre-filled form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22960" y="384962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with opportunity context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846320" y="1234440"/>
            <a:ext cx="3840480" cy="3383280"/>
          </a:xfrm>
          <a:prstGeom prst="rect">
            <a:avLst/>
          </a:prstGeom>
          <a:solidFill>
            <a:srgbClr val="1A2D47"/>
          </a:solidFill>
          <a:ln w="6350">
            <a:solidFill>
              <a:srgbClr val="8B691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864608" y="1234440"/>
            <a:ext cx="3803904" cy="36576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26" name="Shape 23"/>
          <p:cNvSpPr/>
          <p:nvPr/>
        </p:nvSpPr>
        <p:spPr>
          <a:xfrm>
            <a:off x="5029200" y="1417320"/>
            <a:ext cx="457200" cy="457200"/>
          </a:xfrm>
          <a:prstGeom prst="ellipse">
            <a:avLst/>
          </a:prstGeom>
          <a:solidFill>
            <a:srgbClr val="C5941A"/>
          </a:solidFill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6350" y="1474470"/>
            <a:ext cx="342900" cy="34290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440680" y="1417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Approvals — 11 Steps</a:t>
            </a:r>
            <a:endParaRPr lang="en-US" sz="1600" dirty="0"/>
          </a:p>
        </p:txBody>
      </p:sp>
      <p:sp>
        <p:nvSpPr>
          <p:cNvPr id="29" name="Shape 25"/>
          <p:cNvSpPr/>
          <p:nvPr/>
        </p:nvSpPr>
        <p:spPr>
          <a:xfrm>
            <a:off x="5029200" y="1920240"/>
            <a:ext cx="731520" cy="27432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30" name="Text 26"/>
          <p:cNvSpPr/>
          <p:nvPr/>
        </p:nvSpPr>
        <p:spPr>
          <a:xfrm>
            <a:off x="5029200" y="2011680"/>
            <a:ext cx="3474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Manager &amp; HR approval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LGPD &amp; NDA signature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agenda definition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 assignment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issuance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Accommodation reservation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documentation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policies and rules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Pre-exchange briefing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access verification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contact communication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D2E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Diary 4.0 — Digital Journal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exchange experience documentation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749808"/>
            <a:ext cx="1097280" cy="27432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4800600"/>
            <a:ext cx="8229600" cy="4572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FX Experience  ·  Freudenberg Group  ·  FollowLabs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0" y="48463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6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21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40080" y="1234440"/>
            <a:ext cx="2606040" cy="3200400"/>
          </a:xfrm>
          <a:prstGeom prst="rect">
            <a:avLst/>
          </a:prstGeom>
          <a:solidFill>
            <a:srgbClr val="1A2D47"/>
          </a:solidFill>
          <a:ln w="6350">
            <a:solidFill>
              <a:srgbClr val="8B691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234440"/>
            <a:ext cx="2569464" cy="36576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12" name="Shape 10"/>
          <p:cNvSpPr/>
          <p:nvPr/>
        </p:nvSpPr>
        <p:spPr>
          <a:xfrm>
            <a:off x="1554480" y="1371600"/>
            <a:ext cx="548640" cy="548640"/>
          </a:xfrm>
          <a:prstGeom prst="ellipse">
            <a:avLst/>
          </a:prstGeom>
          <a:solidFill>
            <a:srgbClr val="293B5F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3060" y="1440180"/>
            <a:ext cx="411480" cy="41148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40080" y="20116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Entries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1463040" y="2331720"/>
            <a:ext cx="822960" cy="27432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2468880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</a:t>
            </a:r>
            <a:pPr indent="0" marL="0">
              <a:buNone/>
            </a:pPr>
            <a:r>
              <a:rPr lang="en-US" sz="10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Text, image or video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</a:t>
            </a:r>
            <a:pPr indent="0" marL="0">
              <a:buNone/>
            </a:pPr>
            <a:r>
              <a:rPr lang="en-US" sz="10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3 attachments per entry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</a:t>
            </a:r>
            <a:pPr indent="0" marL="0">
              <a:buNone/>
            </a:pPr>
            <a:r>
              <a:rPr lang="en-US" sz="10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visualization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</a:t>
            </a:r>
            <a:pPr indent="0" marL="0">
              <a:buNone/>
            </a:pPr>
            <a:r>
              <a:rPr lang="en-US" sz="10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 comments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474720" y="1234440"/>
            <a:ext cx="2606040" cy="3200400"/>
          </a:xfrm>
          <a:prstGeom prst="rect">
            <a:avLst/>
          </a:prstGeom>
          <a:solidFill>
            <a:srgbClr val="1A2D47"/>
          </a:solidFill>
          <a:ln w="6350">
            <a:solidFill>
              <a:srgbClr val="8B691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493008" y="1234440"/>
            <a:ext cx="2569464" cy="36576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19" name="Shape 16"/>
          <p:cNvSpPr/>
          <p:nvPr/>
        </p:nvSpPr>
        <p:spPr>
          <a:xfrm>
            <a:off x="4389120" y="1371600"/>
            <a:ext cx="548640" cy="548640"/>
          </a:xfrm>
          <a:prstGeom prst="ellipse">
            <a:avLst/>
          </a:prstGeom>
          <a:solidFill>
            <a:srgbClr val="C5941A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700" y="1440180"/>
            <a:ext cx="411480" cy="4114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474720" y="20116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4297680" y="2331720"/>
            <a:ext cx="822960" cy="27432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23" name="Text 19"/>
          <p:cNvSpPr/>
          <p:nvPr/>
        </p:nvSpPr>
        <p:spPr>
          <a:xfrm>
            <a:off x="3657600" y="2468880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</a:t>
            </a:r>
            <a:pPr indent="0" marL="0">
              <a:buNone/>
            </a:pPr>
            <a:r>
              <a:rPr lang="en-US" sz="10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targets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</a:t>
            </a:r>
            <a:pPr indent="0" marL="0">
              <a:buNone/>
            </a:pPr>
            <a:r>
              <a:rPr lang="en-US" sz="10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0-100%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</a:t>
            </a:r>
            <a:pPr indent="0" marL="0">
              <a:buNone/>
            </a:pPr>
            <a:r>
              <a:rPr lang="en-US" sz="10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Attached evidence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</a:t>
            </a:r>
            <a:pPr indent="0" marL="0">
              <a:buNone/>
            </a:pPr>
            <a:r>
              <a:rPr lang="en-US" sz="10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Not Started → In Progress → Completed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6309360" y="1234440"/>
            <a:ext cx="2606040" cy="3200400"/>
          </a:xfrm>
          <a:prstGeom prst="rect">
            <a:avLst/>
          </a:prstGeom>
          <a:solidFill>
            <a:srgbClr val="1A2D47"/>
          </a:solidFill>
          <a:ln w="6350">
            <a:solidFill>
              <a:srgbClr val="8B6914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327648" y="1234440"/>
            <a:ext cx="2569464" cy="36576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26" name="Shape 22"/>
          <p:cNvSpPr/>
          <p:nvPr/>
        </p:nvSpPr>
        <p:spPr>
          <a:xfrm>
            <a:off x="7223760" y="1371600"/>
            <a:ext cx="548640" cy="548640"/>
          </a:xfrm>
          <a:prstGeom prst="ellipse">
            <a:avLst/>
          </a:prstGeom>
          <a:solidFill>
            <a:srgbClr val="3A5280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2340" y="1440180"/>
            <a:ext cx="411480" cy="41148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309360" y="20116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Summary</a:t>
            </a:r>
            <a:endParaRPr lang="en-US" sz="1500" dirty="0"/>
          </a:p>
        </p:txBody>
      </p:sp>
      <p:sp>
        <p:nvSpPr>
          <p:cNvPr id="29" name="Shape 24"/>
          <p:cNvSpPr/>
          <p:nvPr/>
        </p:nvSpPr>
        <p:spPr>
          <a:xfrm>
            <a:off x="7132320" y="2331720"/>
            <a:ext cx="822960" cy="27432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30" name="Text 25"/>
          <p:cNvSpPr/>
          <p:nvPr/>
        </p:nvSpPr>
        <p:spPr>
          <a:xfrm>
            <a:off x="6492240" y="2468880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</a:t>
            </a:r>
            <a:pPr indent="0" marL="0">
              <a:buNone/>
            </a:pPr>
            <a:r>
              <a:rPr lang="en-US" sz="10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of 10+ entries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</a:t>
            </a:r>
            <a:pPr indent="0" marL="0">
              <a:buNone/>
            </a:pPr>
            <a:r>
              <a:rPr lang="en-US" sz="10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narrative summary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</a:t>
            </a:r>
            <a:pPr indent="0" marL="0">
              <a:buNone/>
            </a:pPr>
            <a:r>
              <a:rPr lang="en-US" sz="10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3-6 extracted insights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</a:t>
            </a:r>
            <a:pPr indent="0" marL="0">
              <a:buNone/>
            </a:pPr>
            <a:r>
              <a:rPr lang="en-US" sz="10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sentiment analysis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D2E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Labs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idea to validation — 5 integrated sub-modules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749808"/>
            <a:ext cx="1097280" cy="27432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4800600"/>
            <a:ext cx="8229600" cy="4572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FX Experience  ·  Freudenberg Group  ·  FollowLabs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0" y="48463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6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21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1234440"/>
            <a:ext cx="1508760" cy="640080"/>
          </a:xfrm>
          <a:prstGeom prst="rect">
            <a:avLst/>
          </a:prstGeom>
          <a:solidFill>
            <a:srgbClr val="293B5F"/>
          </a:solidFill>
          <a:ln w="3810">
            <a:solidFill>
              <a:srgbClr val="8B691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23444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920240" y="123444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194560" y="1234440"/>
            <a:ext cx="1508760" cy="640080"/>
          </a:xfrm>
          <a:prstGeom prst="rect">
            <a:avLst/>
          </a:prstGeom>
          <a:solidFill>
            <a:srgbClr val="C5941A"/>
          </a:solidFill>
          <a:ln w="3810">
            <a:solidFill>
              <a:srgbClr val="8B691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94560" y="123444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0" y="123444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931920" y="1234440"/>
            <a:ext cx="1508760" cy="640080"/>
          </a:xfrm>
          <a:prstGeom prst="rect">
            <a:avLst/>
          </a:prstGeom>
          <a:solidFill>
            <a:srgbClr val="3A5280"/>
          </a:solidFill>
          <a:ln w="3810">
            <a:solidFill>
              <a:srgbClr val="8B691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0" y="123444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stages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94960" y="123444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669280" y="1234440"/>
            <a:ext cx="1508760" cy="640080"/>
          </a:xfrm>
          <a:prstGeom prst="rect">
            <a:avLst/>
          </a:prstGeom>
          <a:solidFill>
            <a:srgbClr val="5B7B9D"/>
          </a:solidFill>
          <a:ln w="3810">
            <a:solidFill>
              <a:srgbClr val="8B691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0" y="123444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32320" y="123444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406640" y="1234440"/>
            <a:ext cx="1508760" cy="640080"/>
          </a:xfrm>
          <a:prstGeom prst="rect">
            <a:avLst/>
          </a:prstGeom>
          <a:solidFill>
            <a:srgbClr val="C5941A"/>
          </a:solidFill>
          <a:ln w="3810">
            <a:solidFill>
              <a:srgbClr val="8B691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06640" y="123444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2148840"/>
            <a:ext cx="3931920" cy="2423160"/>
          </a:xfrm>
          <a:prstGeom prst="rect">
            <a:avLst/>
          </a:prstGeom>
          <a:solidFill>
            <a:srgbClr val="1A2D47"/>
          </a:solidFill>
          <a:ln w="6350">
            <a:solidFill>
              <a:srgbClr val="8B691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" y="2148840"/>
            <a:ext cx="3895344" cy="36576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2286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ICE Score — Idea Evaluation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22960" y="2606040"/>
            <a:ext cx="731520" cy="27432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28" name="Shape 26"/>
          <p:cNvSpPr/>
          <p:nvPr/>
        </p:nvSpPr>
        <p:spPr>
          <a:xfrm>
            <a:off x="822960" y="2743200"/>
            <a:ext cx="502920" cy="320040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274320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1417320" y="2743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0-10  Business impact potential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22960" y="3127248"/>
            <a:ext cx="502920" cy="320040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3127248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1417320" y="31272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0-10  Confidence level in execution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22960" y="3511296"/>
            <a:ext cx="502920" cy="320040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35" name="Text 33"/>
          <p:cNvSpPr/>
          <p:nvPr/>
        </p:nvSpPr>
        <p:spPr>
          <a:xfrm>
            <a:off x="822960" y="3511296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1417320" y="351129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0-10  Required effort (divisor)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22960" y="3895344"/>
            <a:ext cx="502920" cy="320040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38" name="Text 36"/>
          <p:cNvSpPr/>
          <p:nvPr/>
        </p:nvSpPr>
        <p:spPr>
          <a:xfrm>
            <a:off x="822960" y="3895344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1417320" y="389534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0-10  Strategic alignment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22960" y="432511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Formula: (I × C × S) / 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46320" y="2148840"/>
            <a:ext cx="3840480" cy="2423160"/>
          </a:xfrm>
          <a:prstGeom prst="rect">
            <a:avLst/>
          </a:prstGeom>
          <a:solidFill>
            <a:srgbClr val="1A2D47"/>
          </a:solidFill>
          <a:ln w="6350">
            <a:solidFill>
              <a:srgbClr val="8B691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64608" y="2148840"/>
            <a:ext cx="3803904" cy="36576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43" name="Text 41"/>
          <p:cNvSpPr/>
          <p:nvPr/>
        </p:nvSpPr>
        <p:spPr>
          <a:xfrm>
            <a:off x="5029200" y="2286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— 6 Stages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029200" y="2606040"/>
            <a:ext cx="731520" cy="27432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45" name="Shape 43"/>
          <p:cNvSpPr/>
          <p:nvPr/>
        </p:nvSpPr>
        <p:spPr>
          <a:xfrm>
            <a:off x="5029200" y="2788920"/>
            <a:ext cx="1051560" cy="548640"/>
          </a:xfrm>
          <a:prstGeom prst="rect">
            <a:avLst/>
          </a:prstGeom>
          <a:solidFill>
            <a:srgbClr val="5A6E82"/>
          </a:solidFill>
          <a:ln w="3810">
            <a:solidFill>
              <a:srgbClr val="2A406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0" y="2788920"/>
            <a:ext cx="1051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Submitted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217920" y="2788920"/>
            <a:ext cx="1051560" cy="548640"/>
          </a:xfrm>
          <a:prstGeom prst="rect">
            <a:avLst/>
          </a:prstGeom>
          <a:solidFill>
            <a:srgbClr val="3A5280"/>
          </a:solidFill>
          <a:ln w="3810">
            <a:solidFill>
              <a:srgbClr val="2A406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17920" y="2788920"/>
            <a:ext cx="1051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Under Review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406640" y="2788920"/>
            <a:ext cx="1051560" cy="548640"/>
          </a:xfrm>
          <a:prstGeom prst="rect">
            <a:avLst/>
          </a:prstGeom>
          <a:solidFill>
            <a:srgbClr val="C5941A"/>
          </a:solidFill>
          <a:ln w="3810">
            <a:solidFill>
              <a:srgbClr val="2A406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06640" y="2788920"/>
            <a:ext cx="1051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Approved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029200" y="3566160"/>
            <a:ext cx="1051560" cy="548640"/>
          </a:xfrm>
          <a:prstGeom prst="rect">
            <a:avLst/>
          </a:prstGeom>
          <a:solidFill>
            <a:srgbClr val="293B5F"/>
          </a:solidFill>
          <a:ln w="3810">
            <a:solidFill>
              <a:srgbClr val="2A406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029200" y="3566160"/>
            <a:ext cx="1051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In Sprint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217920" y="3566160"/>
            <a:ext cx="1051560" cy="548640"/>
          </a:xfrm>
          <a:prstGeom prst="rect">
            <a:avLst/>
          </a:prstGeom>
          <a:solidFill>
            <a:srgbClr val="2D8A4E"/>
          </a:solidFill>
          <a:ln w="3810">
            <a:solidFill>
              <a:srgbClr val="2A406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17920" y="3566160"/>
            <a:ext cx="1051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Validated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406640" y="3566160"/>
            <a:ext cx="1051560" cy="548640"/>
          </a:xfrm>
          <a:prstGeom prst="rect">
            <a:avLst/>
          </a:prstGeom>
          <a:solidFill>
            <a:srgbClr val="C5941A"/>
          </a:solidFill>
          <a:ln w="3810">
            <a:solidFill>
              <a:srgbClr val="2A406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406640" y="3566160"/>
            <a:ext cx="1051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Scaled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029200" y="42062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Tags: processo · segurança · custo · ESG · produto · RH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D2E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Hub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learning with courses, paths and generative AI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749808"/>
            <a:ext cx="1097280" cy="27432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4800600"/>
            <a:ext cx="8229600" cy="4572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FX Experience  ·  Freudenberg Group  ·  FollowLabs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0" y="48463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6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21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40080" y="1234440"/>
            <a:ext cx="1874520" cy="777240"/>
          </a:xfrm>
          <a:prstGeom prst="rect">
            <a:avLst/>
          </a:prstGeom>
          <a:solidFill>
            <a:srgbClr val="1A2D47"/>
          </a:solidFill>
          <a:ln w="6350">
            <a:solidFill>
              <a:srgbClr val="2A4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26187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C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40080" y="16459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97480" y="1234440"/>
            <a:ext cx="1874520" cy="777240"/>
          </a:xfrm>
          <a:prstGeom prst="rect">
            <a:avLst/>
          </a:prstGeom>
          <a:solidFill>
            <a:srgbClr val="1A2D47"/>
          </a:solidFill>
          <a:ln w="6350">
            <a:solidFill>
              <a:srgbClr val="2A40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97480" y="126187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C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697480" y="16459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234440"/>
            <a:ext cx="1874520" cy="777240"/>
          </a:xfrm>
          <a:prstGeom prst="rect">
            <a:avLst/>
          </a:prstGeom>
          <a:solidFill>
            <a:srgbClr val="1A2D47"/>
          </a:solidFill>
          <a:ln w="6350">
            <a:solidFill>
              <a:srgbClr val="2A40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26187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C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754880" y="16459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Score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12280" y="1234440"/>
            <a:ext cx="1874520" cy="777240"/>
          </a:xfrm>
          <a:prstGeom prst="rect">
            <a:avLst/>
          </a:prstGeom>
          <a:solidFill>
            <a:srgbClr val="1A2D47"/>
          </a:solidFill>
          <a:ln w="6350">
            <a:solidFill>
              <a:srgbClr val="2A40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12280" y="126187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C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430h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812280" y="16459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Hours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2286000"/>
            <a:ext cx="3931920" cy="2286000"/>
          </a:xfrm>
          <a:prstGeom prst="rect">
            <a:avLst/>
          </a:prstGeom>
          <a:solidFill>
            <a:srgbClr val="1A2D47"/>
          </a:solidFill>
          <a:ln w="6350">
            <a:solidFill>
              <a:srgbClr val="8B691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8368" y="2286000"/>
            <a:ext cx="3895344" cy="36576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2377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Catalog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22960" y="2697480"/>
            <a:ext cx="731520" cy="27432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26" name="Shape 24"/>
          <p:cNvSpPr/>
          <p:nvPr/>
        </p:nvSpPr>
        <p:spPr>
          <a:xfrm>
            <a:off x="822960" y="2834640"/>
            <a:ext cx="3566160" cy="347472"/>
          </a:xfrm>
          <a:prstGeom prst="rect">
            <a:avLst/>
          </a:prstGeom>
          <a:solidFill>
            <a:srgbClr val="162236"/>
          </a:solidFill>
          <a:ln w="3810">
            <a:solidFill>
              <a:srgbClr val="2A40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28346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DPX Platform Tutorial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926080" y="283464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modules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57600" y="283464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822960" y="3236976"/>
            <a:ext cx="3566160" cy="347472"/>
          </a:xfrm>
          <a:prstGeom prst="rect">
            <a:avLst/>
          </a:prstGeom>
          <a:solidFill>
            <a:srgbClr val="162236"/>
          </a:solidFill>
          <a:ln w="3810">
            <a:solidFill>
              <a:srgbClr val="2A40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323697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Thinking in Practice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926080" y="3236976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modules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657600" y="3236976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822960" y="3639312"/>
            <a:ext cx="3566160" cy="347472"/>
          </a:xfrm>
          <a:prstGeom prst="rect">
            <a:avLst/>
          </a:prstGeom>
          <a:solidFill>
            <a:srgbClr val="162236"/>
          </a:solidFill>
          <a:ln w="3810">
            <a:solidFill>
              <a:srgbClr val="2A40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36393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Consultative Selling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926080" y="3639312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modules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657600" y="3639312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822960" y="4041648"/>
            <a:ext cx="3566160" cy="347472"/>
          </a:xfrm>
          <a:prstGeom prst="rect">
            <a:avLst/>
          </a:prstGeom>
          <a:solidFill>
            <a:srgbClr val="162236"/>
          </a:solidFill>
          <a:ln w="3810">
            <a:solidFill>
              <a:srgbClr val="2A406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" y="40416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Situational Leadership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926080" y="4041648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modules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657600" y="4041648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846320" y="2286000"/>
            <a:ext cx="3840480" cy="2286000"/>
          </a:xfrm>
          <a:prstGeom prst="rect">
            <a:avLst/>
          </a:prstGeom>
          <a:solidFill>
            <a:srgbClr val="1A2D47"/>
          </a:solidFill>
          <a:ln w="6350">
            <a:solidFill>
              <a:srgbClr val="8B691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64608" y="2286000"/>
            <a:ext cx="3803904" cy="36576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44" name="Shape 42"/>
          <p:cNvSpPr/>
          <p:nvPr/>
        </p:nvSpPr>
        <p:spPr>
          <a:xfrm>
            <a:off x="5029200" y="2377440"/>
            <a:ext cx="365760" cy="365760"/>
          </a:xfrm>
          <a:prstGeom prst="ellipse">
            <a:avLst/>
          </a:prstGeom>
          <a:solidFill>
            <a:srgbClr val="C5941A"/>
          </a:solidFill>
          <a:ln/>
        </p:spPr>
      </p:sp>
      <p:pic>
        <p:nvPicPr>
          <p:cNvPr id="4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2423160"/>
            <a:ext cx="274320" cy="274320"/>
          </a:xfrm>
          <a:prstGeom prst="rect">
            <a:avLst/>
          </a:prstGeom>
        </p:spPr>
      </p:pic>
      <p:sp>
        <p:nvSpPr>
          <p:cNvPr id="46" name="Text 43"/>
          <p:cNvSpPr/>
          <p:nvPr/>
        </p:nvSpPr>
        <p:spPr>
          <a:xfrm>
            <a:off x="5486400" y="2377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Integrated with Learning</a:t>
            </a:r>
            <a:endParaRPr lang="en-US" sz="1300" dirty="0"/>
          </a:p>
        </p:txBody>
      </p:sp>
      <p:sp>
        <p:nvSpPr>
          <p:cNvPr id="47" name="Shape 44"/>
          <p:cNvSpPr/>
          <p:nvPr/>
        </p:nvSpPr>
        <p:spPr>
          <a:xfrm>
            <a:off x="5029200" y="2697480"/>
            <a:ext cx="731520" cy="27432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48" name="Text 45"/>
          <p:cNvSpPr/>
          <p:nvPr/>
        </p:nvSpPr>
        <p:spPr>
          <a:xfrm>
            <a:off x="5029200" y="28346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Course Creation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5029200" y="303580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complete course from topic + source: modules, quizzes, suggested videos (1-10 modules)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5029200" y="34747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Coach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5029200" y="367588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path recommendations based on participant profile and goals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5029200" y="41148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Playlists</a:t>
            </a:r>
            <a:endParaRPr lang="en-US" sz="1100" dirty="0"/>
          </a:p>
        </p:txBody>
      </p:sp>
      <p:sp>
        <p:nvSpPr>
          <p:cNvPr id="53" name="Text 50"/>
          <p:cNvSpPr/>
          <p:nvPr/>
        </p:nvSpPr>
        <p:spPr>
          <a:xfrm>
            <a:off x="5029200" y="431596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course sequences based on completion history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D2E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Mentorship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mentor-mentee relationship management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749808"/>
            <a:ext cx="1097280" cy="27432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4800600"/>
            <a:ext cx="8229600" cy="4572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FX Experience  ·  Freudenberg Group  ·  FollowLabs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0" y="48463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6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21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40080" y="1234440"/>
            <a:ext cx="3931920" cy="3337560"/>
          </a:xfrm>
          <a:prstGeom prst="rect">
            <a:avLst/>
          </a:prstGeom>
          <a:solidFill>
            <a:srgbClr val="1A2D47"/>
          </a:solidFill>
          <a:ln w="6350">
            <a:solidFill>
              <a:srgbClr val="8B691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234440"/>
            <a:ext cx="3895344" cy="36576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1371600"/>
            <a:ext cx="457200" cy="457200"/>
          </a:xfrm>
          <a:prstGeom prst="ellipse">
            <a:avLst/>
          </a:prstGeom>
          <a:solidFill>
            <a:srgbClr val="293B5F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110" y="1428750"/>
            <a:ext cx="342900" cy="3429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417320" y="1417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 View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822960" y="1874520"/>
            <a:ext cx="731520" cy="27432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2011680"/>
            <a:ext cx="35661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</a:t>
            </a:r>
            <a:pPr indent="0" marL="0">
              <a:buNone/>
            </a:pPr>
            <a:r>
              <a:rPr lang="en-US" sz="10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Mentee cards with avatar, name, role, unit and progress bar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</a:t>
            </a:r>
            <a:pPr indent="0" marL="0">
              <a:buNone/>
            </a:pPr>
            <a:r>
              <a:rPr lang="en-US" sz="10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alerts: red (critical) and yellow (attention) for overdue tasks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</a:t>
            </a:r>
            <a:pPr indent="0" marL="0">
              <a:buNone/>
            </a:pPr>
            <a:r>
              <a:rPr lang="en-US" sz="10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table with priority levels (high/medium/low)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</a:t>
            </a:r>
            <a:pPr indent="0" marL="0">
              <a:buNone/>
            </a:pPr>
            <a:r>
              <a:rPr lang="en-US" sz="10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Scheduling 1:1 and group sessions with calendar integration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</a:t>
            </a:r>
            <a:pPr indent="0" marL="0">
              <a:buNone/>
            </a:pPr>
            <a:r>
              <a:rPr lang="en-US" sz="10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AI-generated reports on mentee progress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846320" y="1234440"/>
            <a:ext cx="3840480" cy="1554480"/>
          </a:xfrm>
          <a:prstGeom prst="rect">
            <a:avLst/>
          </a:prstGeom>
          <a:solidFill>
            <a:srgbClr val="1A2D47"/>
          </a:solidFill>
          <a:ln w="6350">
            <a:solidFill>
              <a:srgbClr val="8B691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64608" y="1234440"/>
            <a:ext cx="3803904" cy="36576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19" name="Shape 16"/>
          <p:cNvSpPr/>
          <p:nvPr/>
        </p:nvSpPr>
        <p:spPr>
          <a:xfrm>
            <a:off x="5029200" y="1371600"/>
            <a:ext cx="457200" cy="457200"/>
          </a:xfrm>
          <a:prstGeom prst="ellipse">
            <a:avLst/>
          </a:prstGeom>
          <a:solidFill>
            <a:srgbClr val="C5941A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6350" y="1428750"/>
            <a:ext cx="342900" cy="3429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440680" y="1417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Mentee View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5029200" y="1874520"/>
            <a:ext cx="731520" cy="27432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23" name="Text 19"/>
          <p:cNvSpPr/>
          <p:nvPr/>
        </p:nvSpPr>
        <p:spPr>
          <a:xfrm>
            <a:off x="5029200" y="20116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</a:t>
            </a:r>
            <a:pPr indent="0" marL="0">
              <a:buNone/>
            </a:pPr>
            <a:r>
              <a:rPr lang="en-US" sz="10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Assigned mentor profile and contact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</a:t>
            </a:r>
            <a:pPr indent="0" marL="0">
              <a:buNone/>
            </a:pPr>
            <a:r>
              <a:rPr lang="en-US" sz="10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progress tracking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</a:t>
            </a:r>
            <a:pPr indent="0" marL="0">
              <a:buNone/>
            </a:pPr>
            <a:r>
              <a:rPr lang="en-US" sz="10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 session visualization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4846320" y="2971800"/>
            <a:ext cx="3840480" cy="1600200"/>
          </a:xfrm>
          <a:prstGeom prst="rect">
            <a:avLst/>
          </a:prstGeom>
          <a:solidFill>
            <a:srgbClr val="1A2D47"/>
          </a:solidFill>
          <a:ln w="6350">
            <a:solidFill>
              <a:srgbClr val="8B6914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864608" y="2971800"/>
            <a:ext cx="3803904" cy="36576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26" name="Text 22"/>
          <p:cNvSpPr/>
          <p:nvPr/>
        </p:nvSpPr>
        <p:spPr>
          <a:xfrm>
            <a:off x="5029200" y="3063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Metrics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5029200" y="3337560"/>
            <a:ext cx="731520" cy="27432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28" name="Text 24"/>
          <p:cNvSpPr/>
          <p:nvPr/>
        </p:nvSpPr>
        <p:spPr>
          <a:xfrm>
            <a:off x="5029200" y="34747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C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200" dirty="0"/>
          </a:p>
        </p:txBody>
      </p:sp>
      <p:sp>
        <p:nvSpPr>
          <p:cNvPr id="29" name="Text 25"/>
          <p:cNvSpPr/>
          <p:nvPr/>
        </p:nvSpPr>
        <p:spPr>
          <a:xfrm>
            <a:off x="5029200" y="38404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8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Completion Rate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6217920" y="34747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C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2200" dirty="0"/>
          </a:p>
        </p:txBody>
      </p:sp>
      <p:sp>
        <p:nvSpPr>
          <p:cNvPr id="31" name="Text 27"/>
          <p:cNvSpPr/>
          <p:nvPr/>
        </p:nvSpPr>
        <p:spPr>
          <a:xfrm>
            <a:off x="6217920" y="38404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8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Diary Adherence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7406640" y="34747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C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2200" dirty="0"/>
          </a:p>
        </p:txBody>
      </p:sp>
      <p:sp>
        <p:nvSpPr>
          <p:cNvPr id="33" name="Text 29"/>
          <p:cNvSpPr/>
          <p:nvPr/>
        </p:nvSpPr>
        <p:spPr>
          <a:xfrm>
            <a:off x="7406640" y="38404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8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Delivery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D2E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 · Reports · Alumni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management, documentation and post-program networking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749808"/>
            <a:ext cx="1097280" cy="27432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4800600"/>
            <a:ext cx="8229600" cy="4572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FX Experience  ·  Freudenberg Group  ·  FollowLabs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0" y="48463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6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21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1234440"/>
            <a:ext cx="2651760" cy="3291840"/>
          </a:xfrm>
          <a:prstGeom prst="rect">
            <a:avLst/>
          </a:prstGeom>
          <a:solidFill>
            <a:srgbClr val="1A2D47"/>
          </a:solidFill>
          <a:ln w="6350">
            <a:solidFill>
              <a:srgbClr val="8B691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" y="1234440"/>
            <a:ext cx="2615184" cy="36576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12" name="Shape 10"/>
          <p:cNvSpPr/>
          <p:nvPr/>
        </p:nvSpPr>
        <p:spPr>
          <a:xfrm>
            <a:off x="1371600" y="1371600"/>
            <a:ext cx="502920" cy="502920"/>
          </a:xfrm>
          <a:prstGeom prst="ellipse">
            <a:avLst/>
          </a:prstGeom>
          <a:solidFill>
            <a:srgbClr val="293B5F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4465" y="1434465"/>
            <a:ext cx="377190" cy="37719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57200" y="19659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1234440" y="2286000"/>
            <a:ext cx="914400" cy="27432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" y="2423160"/>
            <a:ext cx="22860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</a:t>
            </a:r>
            <a:pPr indent="0" marL="0">
              <a:buNone/>
            </a:pPr>
            <a:r>
              <a:rPr lang="en-US" sz="9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view with colored dots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</a:t>
            </a:r>
            <a:pPr indent="0" marL="0">
              <a:buNone/>
            </a:pPr>
            <a:r>
              <a:rPr lang="en-US" sz="9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event panel on click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</a:t>
            </a:r>
            <a:pPr indent="0" marL="0">
              <a:buNone/>
            </a:pPr>
            <a:r>
              <a:rPr lang="en-US" sz="9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Consolidated table visualization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</a:t>
            </a:r>
            <a:pPr indent="0" marL="0">
              <a:buNone/>
            </a:pPr>
            <a:r>
              <a:rPr lang="en-US" sz="9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Types: Presentation, Mentoring, Deadline, Training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</a:t>
            </a:r>
            <a:pPr indent="0" marL="0">
              <a:buNone/>
            </a:pPr>
            <a:r>
              <a:rPr lang="en-US" sz="9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Colored badges by event type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337560" y="1234440"/>
            <a:ext cx="2651760" cy="3291840"/>
          </a:xfrm>
          <a:prstGeom prst="rect">
            <a:avLst/>
          </a:prstGeom>
          <a:solidFill>
            <a:srgbClr val="1A2D47"/>
          </a:solidFill>
          <a:ln w="6350">
            <a:solidFill>
              <a:srgbClr val="8B691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355848" y="1234440"/>
            <a:ext cx="2615184" cy="36576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19" name="Shape 16"/>
          <p:cNvSpPr/>
          <p:nvPr/>
        </p:nvSpPr>
        <p:spPr>
          <a:xfrm>
            <a:off x="4251960" y="1371600"/>
            <a:ext cx="502920" cy="502920"/>
          </a:xfrm>
          <a:prstGeom prst="ellipse">
            <a:avLst/>
          </a:prstGeom>
          <a:solidFill>
            <a:srgbClr val="C5941A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4825" y="1434465"/>
            <a:ext cx="377190" cy="37719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337560" y="19659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&amp; A3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4114800" y="2286000"/>
            <a:ext cx="914400" cy="27432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23" name="Text 19"/>
          <p:cNvSpPr/>
          <p:nvPr/>
        </p:nvSpPr>
        <p:spPr>
          <a:xfrm>
            <a:off x="3520440" y="2423160"/>
            <a:ext cx="22860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</a:t>
            </a:r>
            <a:pPr indent="0" marL="0">
              <a:buNone/>
            </a:pPr>
            <a:r>
              <a:rPr lang="en-US" sz="9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A3 report generator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</a:t>
            </a:r>
            <a:pPr indent="0" marL="0">
              <a:buNone/>
            </a:pPr>
            <a:r>
              <a:rPr lang="en-US" sz="9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Compiles diary + feedback + learning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</a:t>
            </a:r>
            <a:pPr indent="0" marL="0">
              <a:buNone/>
            </a:pPr>
            <a:r>
              <a:rPr lang="en-US" sz="9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narrative summary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</a:t>
            </a:r>
            <a:pPr indent="0" marL="0">
              <a:buNone/>
            </a:pPr>
            <a:r>
              <a:rPr lang="en-US" sz="9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Achievements, challenges and lessons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</a:t>
            </a:r>
            <a:pPr indent="0" marL="0">
              <a:buNone/>
            </a:pPr>
            <a:r>
              <a:rPr lang="en-US" sz="9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 + editable before export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6217920" y="1234440"/>
            <a:ext cx="2651760" cy="3291840"/>
          </a:xfrm>
          <a:prstGeom prst="rect">
            <a:avLst/>
          </a:prstGeom>
          <a:solidFill>
            <a:srgbClr val="1A2D47"/>
          </a:solidFill>
          <a:ln w="6350">
            <a:solidFill>
              <a:srgbClr val="8B6914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236208" y="1234440"/>
            <a:ext cx="2615184" cy="36576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26" name="Shape 22"/>
          <p:cNvSpPr/>
          <p:nvPr/>
        </p:nvSpPr>
        <p:spPr>
          <a:xfrm>
            <a:off x="7132320" y="1371600"/>
            <a:ext cx="502920" cy="502920"/>
          </a:xfrm>
          <a:prstGeom prst="ellipse">
            <a:avLst/>
          </a:prstGeom>
          <a:solidFill>
            <a:srgbClr val="3A5280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5185" y="1434465"/>
            <a:ext cx="377190" cy="37719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217920" y="19659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Alumni Network</a:t>
            </a:r>
            <a:endParaRPr lang="en-US" sz="1400" dirty="0"/>
          </a:p>
        </p:txBody>
      </p:sp>
      <p:sp>
        <p:nvSpPr>
          <p:cNvPr id="29" name="Shape 24"/>
          <p:cNvSpPr/>
          <p:nvPr/>
        </p:nvSpPr>
        <p:spPr>
          <a:xfrm>
            <a:off x="6995160" y="2286000"/>
            <a:ext cx="914400" cy="27432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30" name="Text 25"/>
          <p:cNvSpPr/>
          <p:nvPr/>
        </p:nvSpPr>
        <p:spPr>
          <a:xfrm>
            <a:off x="6400800" y="2423160"/>
            <a:ext cx="22860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</a:t>
            </a:r>
            <a:pPr indent="0" marL="0">
              <a:buNone/>
            </a:pPr>
            <a:r>
              <a:rPr lang="en-US" sz="9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Alumni grid with detailed cards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</a:t>
            </a:r>
            <a:pPr indent="0" marL="0">
              <a:buNone/>
            </a:pPr>
            <a:r>
              <a:rPr lang="en-US" sz="9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Metrics: ideas, exchanges, courses, talks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</a:t>
            </a:r>
            <a:pPr indent="0" marL="0">
              <a:buNone/>
            </a:pPr>
            <a:r>
              <a:rPr lang="en-US" sz="9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by name or unit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</a:t>
            </a:r>
            <a:pPr indent="0" marL="0">
              <a:buNone/>
            </a:pPr>
            <a:r>
              <a:rPr lang="en-US" sz="9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Message button for networking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</a:t>
            </a:r>
            <a:pPr indent="0" marL="0">
              <a:buNone/>
            </a:pPr>
            <a:r>
              <a:rPr lang="en-US" sz="9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 by cohort (ex: Cohort 2023)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D2E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Dashboard &amp; Access Control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Consolidated program view with 4 access profiles (RBAC)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749808"/>
            <a:ext cx="1097280" cy="27432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4800600"/>
            <a:ext cx="8229600" cy="4572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FX Experience  ·  Freudenberg Group  ·  FollowLabs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0" y="48463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6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21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40080" y="1234440"/>
            <a:ext cx="3931920" cy="1828800"/>
          </a:xfrm>
          <a:prstGeom prst="rect">
            <a:avLst/>
          </a:prstGeom>
          <a:solidFill>
            <a:srgbClr val="1A2D47"/>
          </a:solidFill>
          <a:ln w="6350">
            <a:solidFill>
              <a:srgbClr val="8B691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234440"/>
            <a:ext cx="3895344" cy="36576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1371600"/>
            <a:ext cx="411480" cy="411480"/>
          </a:xfrm>
          <a:prstGeom prst="ellipse">
            <a:avLst/>
          </a:prstGeom>
          <a:solidFill>
            <a:srgbClr val="293B5F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395" y="1423035"/>
            <a:ext cx="308610" cy="30861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325880" y="1371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Dashboard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22960" y="187452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</a:t>
            </a:r>
            <a:pPr indent="0" marL="0">
              <a:buNone/>
            </a:pPr>
            <a:r>
              <a:rPr lang="en-US" sz="9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Total Transfers  ·  8 Active  ·  28 days average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</a:t>
            </a:r>
            <a:pPr indent="0" marL="0">
              <a:buNone/>
            </a:pPr>
            <a:r>
              <a:rPr lang="en-US" sz="9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chart between units  ·  Complete transfer table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</a:t>
            </a:r>
            <a:pPr indent="0" marL="0">
              <a:buNone/>
            </a:pPr>
            <a:r>
              <a:rPr lang="en-US" sz="9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Talent Map  ·  Filters by unit, period and status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846320" y="1234440"/>
            <a:ext cx="3840480" cy="1828800"/>
          </a:xfrm>
          <a:prstGeom prst="rect">
            <a:avLst/>
          </a:prstGeom>
          <a:solidFill>
            <a:srgbClr val="1A2D47"/>
          </a:solidFill>
          <a:ln w="6350">
            <a:solidFill>
              <a:srgbClr val="8B691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864608" y="1234440"/>
            <a:ext cx="3803904" cy="36576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18" name="Shape 15"/>
          <p:cNvSpPr/>
          <p:nvPr/>
        </p:nvSpPr>
        <p:spPr>
          <a:xfrm>
            <a:off x="5029200" y="1371600"/>
            <a:ext cx="411480" cy="411480"/>
          </a:xfrm>
          <a:prstGeom prst="ellipse">
            <a:avLst/>
          </a:prstGeom>
          <a:solidFill>
            <a:srgbClr val="C5941A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635" y="1423035"/>
            <a:ext cx="308610" cy="30861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486400" y="1371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5029200" y="187452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</a:t>
            </a:r>
            <a:pPr indent="0" marL="0">
              <a:buNone/>
            </a:pPr>
            <a:r>
              <a:rPr lang="en-US" sz="9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and notification management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</a:t>
            </a:r>
            <a:pPr indent="0" marL="0">
              <a:buNone/>
            </a:pPr>
            <a:r>
              <a:rPr lang="en-US" sz="9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logo upload  ·  Unit management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</a:t>
            </a:r>
            <a:pPr indent="0" marL="0">
              <a:buNone/>
            </a:pPr>
            <a:r>
              <a:rPr lang="en-US" sz="9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log (audit with IP and timestamps)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</a:t>
            </a:r>
            <a:pPr indent="0" marL="0">
              <a:buNone/>
            </a:pPr>
            <a:r>
              <a:rPr lang="en-US" sz="9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data export (JSON)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640080" y="3246120"/>
            <a:ext cx="8046720" cy="1371600"/>
          </a:xfrm>
          <a:prstGeom prst="rect">
            <a:avLst/>
          </a:prstGeom>
          <a:solidFill>
            <a:srgbClr val="1A2D47"/>
          </a:solidFill>
          <a:ln w="6350">
            <a:solidFill>
              <a:srgbClr val="8B6914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58368" y="3246120"/>
            <a:ext cx="8010144" cy="36576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24" name="Text 20"/>
          <p:cNvSpPr/>
          <p:nvPr/>
        </p:nvSpPr>
        <p:spPr>
          <a:xfrm>
            <a:off x="822960" y="33375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Profiles (RBAC)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822960" y="3657600"/>
            <a:ext cx="45720" cy="822960"/>
          </a:xfrm>
          <a:prstGeom prst="rect">
            <a:avLst/>
          </a:prstGeom>
          <a:solidFill>
            <a:srgbClr val="293B5F"/>
          </a:solidFill>
          <a:ln/>
        </p:spPr>
      </p:sp>
      <p:sp>
        <p:nvSpPr>
          <p:cNvPr id="26" name="Text 22"/>
          <p:cNvSpPr/>
          <p:nvPr/>
        </p:nvSpPr>
        <p:spPr>
          <a:xfrm>
            <a:off x="960120" y="3657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8C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Participant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8C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(Mentee)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960120" y="39319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8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Diary, Exchange Center, Innovation Labs,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A8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Learning, Mentorship, Calendar, Alumni</a:t>
            </a:r>
            <a:endParaRPr lang="en-US" sz="800" dirty="0"/>
          </a:p>
        </p:txBody>
      </p:sp>
      <p:sp>
        <p:nvSpPr>
          <p:cNvPr id="28" name="Shape 24"/>
          <p:cNvSpPr/>
          <p:nvPr/>
        </p:nvSpPr>
        <p:spPr>
          <a:xfrm>
            <a:off x="2788920" y="3657600"/>
            <a:ext cx="45720" cy="822960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29" name="Text 25"/>
          <p:cNvSpPr/>
          <p:nvPr/>
        </p:nvSpPr>
        <p:spPr>
          <a:xfrm>
            <a:off x="2926080" y="3657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8C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2926080" y="39319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8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Diary (others), Mentorship,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A8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Reports, Calendar, Alumni, Events</a:t>
            </a:r>
            <a:endParaRPr lang="en-US" sz="800" dirty="0"/>
          </a:p>
        </p:txBody>
      </p:sp>
      <p:sp>
        <p:nvSpPr>
          <p:cNvPr id="31" name="Shape 27"/>
          <p:cNvSpPr/>
          <p:nvPr/>
        </p:nvSpPr>
        <p:spPr>
          <a:xfrm>
            <a:off x="4754880" y="3657600"/>
            <a:ext cx="45720" cy="822960"/>
          </a:xfrm>
          <a:prstGeom prst="rect">
            <a:avLst/>
          </a:prstGeom>
          <a:solidFill>
            <a:srgbClr val="3A5280"/>
          </a:solidFill>
          <a:ln/>
        </p:spPr>
      </p:sp>
      <p:sp>
        <p:nvSpPr>
          <p:cNvPr id="32" name="Text 28"/>
          <p:cNvSpPr/>
          <p:nvPr/>
        </p:nvSpPr>
        <p:spPr>
          <a:xfrm>
            <a:off x="4892040" y="3657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8C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8C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(Manager)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4892040" y="39319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8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Approvals, Innovation Analytics,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A8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Analytics, Mentorship, Settings</a:t>
            </a:r>
            <a:endParaRPr lang="en-US" sz="800" dirty="0"/>
          </a:p>
        </p:txBody>
      </p:sp>
      <p:sp>
        <p:nvSpPr>
          <p:cNvPr id="34" name="Shape 30"/>
          <p:cNvSpPr/>
          <p:nvPr/>
        </p:nvSpPr>
        <p:spPr>
          <a:xfrm>
            <a:off x="6720840" y="3657600"/>
            <a:ext cx="45720" cy="822960"/>
          </a:xfrm>
          <a:prstGeom prst="rect">
            <a:avLst/>
          </a:prstGeom>
          <a:solidFill>
            <a:srgbClr val="5B7B9D"/>
          </a:solidFill>
          <a:ln/>
        </p:spPr>
      </p:sp>
      <p:sp>
        <p:nvSpPr>
          <p:cNvPr id="35" name="Text 31"/>
          <p:cNvSpPr/>
          <p:nvPr/>
        </p:nvSpPr>
        <p:spPr>
          <a:xfrm>
            <a:off x="6858000" y="3657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8C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6858000" y="39319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8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access: Admin Dashboard,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A8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Settings, Export, Unit Management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D2E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SKIPPER AI — Intelligent Assistant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8+ AI-integrated features across the entire platform — powered by FollowLabs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749808"/>
            <a:ext cx="1097280" cy="27432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4800600"/>
            <a:ext cx="8229600" cy="4572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FX Experience  ·  Freudenberg Group  ·  FollowLabs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0" y="48463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6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21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1234440"/>
            <a:ext cx="1965960" cy="1417320"/>
          </a:xfrm>
          <a:prstGeom prst="rect">
            <a:avLst/>
          </a:prstGeom>
          <a:solidFill>
            <a:srgbClr val="1A2D47"/>
          </a:solidFill>
          <a:ln w="6350">
            <a:solidFill>
              <a:srgbClr val="8B691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" y="1234440"/>
            <a:ext cx="1929384" cy="36576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12" name="Shape 10"/>
          <p:cNvSpPr/>
          <p:nvPr/>
        </p:nvSpPr>
        <p:spPr>
          <a:xfrm>
            <a:off x="1097280" y="1371600"/>
            <a:ext cx="457200" cy="457200"/>
          </a:xfrm>
          <a:prstGeom prst="ellipse">
            <a:avLst/>
          </a:prstGeom>
          <a:solidFill>
            <a:srgbClr val="293B5F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4430" y="1428750"/>
            <a:ext cx="342900" cy="3429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48640" y="18745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Diary AI Summary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48640" y="21488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8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Analyzes 10+ entries, extracts insights and sentiment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2606040" y="1234440"/>
            <a:ext cx="1965960" cy="1417320"/>
          </a:xfrm>
          <a:prstGeom prst="rect">
            <a:avLst/>
          </a:prstGeom>
          <a:solidFill>
            <a:srgbClr val="1A2D47"/>
          </a:solidFill>
          <a:ln w="6350">
            <a:solidFill>
              <a:srgbClr val="8B691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624328" y="1234440"/>
            <a:ext cx="1929384" cy="36576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18" name="Shape 15"/>
          <p:cNvSpPr/>
          <p:nvPr/>
        </p:nvSpPr>
        <p:spPr>
          <a:xfrm>
            <a:off x="3246120" y="1371600"/>
            <a:ext cx="457200" cy="457200"/>
          </a:xfrm>
          <a:prstGeom prst="ellipse">
            <a:avLst/>
          </a:prstGeom>
          <a:solidFill>
            <a:srgbClr val="C5941A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3270" y="1428750"/>
            <a:ext cx="342900" cy="3429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2697480" y="18745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Creation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2697480" y="21488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8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complete courses: modules, quizzes, videos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4754880" y="1234440"/>
            <a:ext cx="1965960" cy="1417320"/>
          </a:xfrm>
          <a:prstGeom prst="rect">
            <a:avLst/>
          </a:prstGeom>
          <a:solidFill>
            <a:srgbClr val="1A2D47"/>
          </a:solidFill>
          <a:ln w="6350">
            <a:solidFill>
              <a:srgbClr val="8B6914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773168" y="1234440"/>
            <a:ext cx="1929384" cy="36576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24" name="Shape 20"/>
          <p:cNvSpPr/>
          <p:nvPr/>
        </p:nvSpPr>
        <p:spPr>
          <a:xfrm>
            <a:off x="5394960" y="1371600"/>
            <a:ext cx="457200" cy="457200"/>
          </a:xfrm>
          <a:prstGeom prst="ellipse">
            <a:avLst/>
          </a:prstGeom>
          <a:solidFill>
            <a:srgbClr val="3A5280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2110" y="1428750"/>
            <a:ext cx="342900" cy="34290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846320" y="18745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 Report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4846320" y="21488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8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Compiles diary + feedback into structured evaluation</a:t>
            </a:r>
            <a:endParaRPr lang="en-US" sz="800" dirty="0"/>
          </a:p>
        </p:txBody>
      </p:sp>
      <p:sp>
        <p:nvSpPr>
          <p:cNvPr id="28" name="Shape 23"/>
          <p:cNvSpPr/>
          <p:nvPr/>
        </p:nvSpPr>
        <p:spPr>
          <a:xfrm>
            <a:off x="6903720" y="1234440"/>
            <a:ext cx="1965960" cy="1417320"/>
          </a:xfrm>
          <a:prstGeom prst="rect">
            <a:avLst/>
          </a:prstGeom>
          <a:solidFill>
            <a:srgbClr val="1A2D47"/>
          </a:solidFill>
          <a:ln w="6350">
            <a:solidFill>
              <a:srgbClr val="8B6914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6922008" y="1234440"/>
            <a:ext cx="1929384" cy="36576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30" name="Shape 25"/>
          <p:cNvSpPr/>
          <p:nvPr/>
        </p:nvSpPr>
        <p:spPr>
          <a:xfrm>
            <a:off x="7543800" y="1371600"/>
            <a:ext cx="457200" cy="457200"/>
          </a:xfrm>
          <a:prstGeom prst="ellipse">
            <a:avLst/>
          </a:prstGeom>
          <a:solidFill>
            <a:srgbClr val="5B7B9D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0950" y="1428750"/>
            <a:ext cx="342900" cy="34290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995160" y="18745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Assistant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6995160" y="21488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8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Refines problem/solution, suggests ICE improvements</a:t>
            </a:r>
            <a:endParaRPr lang="en-US" sz="800" dirty="0"/>
          </a:p>
        </p:txBody>
      </p:sp>
      <p:sp>
        <p:nvSpPr>
          <p:cNvPr id="34" name="Shape 28"/>
          <p:cNvSpPr/>
          <p:nvPr/>
        </p:nvSpPr>
        <p:spPr>
          <a:xfrm>
            <a:off x="457200" y="2834640"/>
            <a:ext cx="1965960" cy="1417320"/>
          </a:xfrm>
          <a:prstGeom prst="rect">
            <a:avLst/>
          </a:prstGeom>
          <a:solidFill>
            <a:srgbClr val="1A2D47"/>
          </a:solidFill>
          <a:ln w="6350">
            <a:solidFill>
              <a:srgbClr val="8B6914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475488" y="2834640"/>
            <a:ext cx="1929384" cy="36576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36" name="Shape 30"/>
          <p:cNvSpPr/>
          <p:nvPr/>
        </p:nvSpPr>
        <p:spPr>
          <a:xfrm>
            <a:off x="1097280" y="2971800"/>
            <a:ext cx="457200" cy="457200"/>
          </a:xfrm>
          <a:prstGeom prst="ellipse">
            <a:avLst/>
          </a:prstGeom>
          <a:solidFill>
            <a:srgbClr val="C5941A"/>
          </a:solidFill>
          <a:ln/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4430" y="3028950"/>
            <a:ext cx="342900" cy="34290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548640" y="34747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Fit AI</a:t>
            </a:r>
            <a:endParaRPr lang="en-US" sz="1000" dirty="0"/>
          </a:p>
        </p:txBody>
      </p:sp>
      <p:sp>
        <p:nvSpPr>
          <p:cNvPr id="39" name="Text 32"/>
          <p:cNvSpPr/>
          <p:nvPr/>
        </p:nvSpPr>
        <p:spPr>
          <a:xfrm>
            <a:off x="548640" y="37490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8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Evaluates strategic alignment of ideas</a:t>
            </a:r>
            <a:endParaRPr lang="en-US" sz="800" dirty="0"/>
          </a:p>
        </p:txBody>
      </p:sp>
      <p:sp>
        <p:nvSpPr>
          <p:cNvPr id="40" name="Shape 33"/>
          <p:cNvSpPr/>
          <p:nvPr/>
        </p:nvSpPr>
        <p:spPr>
          <a:xfrm>
            <a:off x="2606040" y="2834640"/>
            <a:ext cx="1965960" cy="1417320"/>
          </a:xfrm>
          <a:prstGeom prst="rect">
            <a:avLst/>
          </a:prstGeom>
          <a:solidFill>
            <a:srgbClr val="1A2D47"/>
          </a:solidFill>
          <a:ln w="6350">
            <a:solidFill>
              <a:srgbClr val="8B6914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2624328" y="2834640"/>
            <a:ext cx="1929384" cy="36576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42" name="Shape 35"/>
          <p:cNvSpPr/>
          <p:nvPr/>
        </p:nvSpPr>
        <p:spPr>
          <a:xfrm>
            <a:off x="3246120" y="2971800"/>
            <a:ext cx="457200" cy="457200"/>
          </a:xfrm>
          <a:prstGeom prst="ellipse">
            <a:avLst/>
          </a:prstGeom>
          <a:solidFill>
            <a:srgbClr val="293B5F"/>
          </a:solidFill>
          <a:ln/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03270" y="3028950"/>
            <a:ext cx="342900" cy="342900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2697480" y="34747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Path AI</a:t>
            </a:r>
            <a:endParaRPr lang="en-US" sz="1000" dirty="0"/>
          </a:p>
        </p:txBody>
      </p:sp>
      <p:sp>
        <p:nvSpPr>
          <p:cNvPr id="45" name="Text 37"/>
          <p:cNvSpPr/>
          <p:nvPr/>
        </p:nvSpPr>
        <p:spPr>
          <a:xfrm>
            <a:off x="2697480" y="37490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8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recommendations based on profile</a:t>
            </a:r>
            <a:endParaRPr lang="en-US" sz="800" dirty="0"/>
          </a:p>
        </p:txBody>
      </p:sp>
      <p:sp>
        <p:nvSpPr>
          <p:cNvPr id="46" name="Shape 38"/>
          <p:cNvSpPr/>
          <p:nvPr/>
        </p:nvSpPr>
        <p:spPr>
          <a:xfrm>
            <a:off x="4754880" y="2834640"/>
            <a:ext cx="1965960" cy="1417320"/>
          </a:xfrm>
          <a:prstGeom prst="rect">
            <a:avLst/>
          </a:prstGeom>
          <a:solidFill>
            <a:srgbClr val="1A2D47"/>
          </a:solidFill>
          <a:ln w="6350">
            <a:solidFill>
              <a:srgbClr val="8B6914"/>
            </a:solidFill>
            <a:prstDash val="solid"/>
          </a:ln>
        </p:spPr>
      </p:sp>
      <p:sp>
        <p:nvSpPr>
          <p:cNvPr id="47" name="Shape 39"/>
          <p:cNvSpPr/>
          <p:nvPr/>
        </p:nvSpPr>
        <p:spPr>
          <a:xfrm>
            <a:off x="4773168" y="2834640"/>
            <a:ext cx="1929384" cy="36576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48" name="Shape 40"/>
          <p:cNvSpPr/>
          <p:nvPr/>
        </p:nvSpPr>
        <p:spPr>
          <a:xfrm>
            <a:off x="5394960" y="2971800"/>
            <a:ext cx="457200" cy="457200"/>
          </a:xfrm>
          <a:prstGeom prst="ellipse">
            <a:avLst/>
          </a:prstGeom>
          <a:solidFill>
            <a:srgbClr val="3A5280"/>
          </a:solidFill>
          <a:ln/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52110" y="3028950"/>
            <a:ext cx="342900" cy="342900"/>
          </a:xfrm>
          <a:prstGeom prst="rect">
            <a:avLst/>
          </a:prstGeom>
        </p:spPr>
      </p:pic>
      <p:sp>
        <p:nvSpPr>
          <p:cNvPr id="50" name="Text 41"/>
          <p:cNvSpPr/>
          <p:nvPr/>
        </p:nvSpPr>
        <p:spPr>
          <a:xfrm>
            <a:off x="4846320" y="34747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Mentorship Report</a:t>
            </a:r>
            <a:endParaRPr lang="en-US" sz="1000" dirty="0"/>
          </a:p>
        </p:txBody>
      </p:sp>
      <p:sp>
        <p:nvSpPr>
          <p:cNvPr id="51" name="Text 42"/>
          <p:cNvSpPr/>
          <p:nvPr/>
        </p:nvSpPr>
        <p:spPr>
          <a:xfrm>
            <a:off x="4846320" y="37490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8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Automatically documents mentee progress</a:t>
            </a:r>
            <a:endParaRPr lang="en-US" sz="800" dirty="0"/>
          </a:p>
        </p:txBody>
      </p:sp>
      <p:sp>
        <p:nvSpPr>
          <p:cNvPr id="52" name="Shape 43"/>
          <p:cNvSpPr/>
          <p:nvPr/>
        </p:nvSpPr>
        <p:spPr>
          <a:xfrm>
            <a:off x="6903720" y="2834640"/>
            <a:ext cx="1965960" cy="1417320"/>
          </a:xfrm>
          <a:prstGeom prst="rect">
            <a:avLst/>
          </a:prstGeom>
          <a:solidFill>
            <a:srgbClr val="1A2D47"/>
          </a:solidFill>
          <a:ln w="6350">
            <a:solidFill>
              <a:srgbClr val="8B6914"/>
            </a:solidFill>
            <a:prstDash val="solid"/>
          </a:ln>
        </p:spPr>
      </p:sp>
      <p:sp>
        <p:nvSpPr>
          <p:cNvPr id="53" name="Shape 44"/>
          <p:cNvSpPr/>
          <p:nvPr/>
        </p:nvSpPr>
        <p:spPr>
          <a:xfrm>
            <a:off x="6922008" y="2834640"/>
            <a:ext cx="1929384" cy="36576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54" name="Shape 45"/>
          <p:cNvSpPr/>
          <p:nvPr/>
        </p:nvSpPr>
        <p:spPr>
          <a:xfrm>
            <a:off x="7543800" y="2971800"/>
            <a:ext cx="457200" cy="457200"/>
          </a:xfrm>
          <a:prstGeom prst="ellipse">
            <a:avLst/>
          </a:prstGeom>
          <a:solidFill>
            <a:srgbClr val="C5941A"/>
          </a:solidFill>
          <a:ln/>
        </p:spPr>
      </p:sp>
      <p:pic>
        <p:nvPicPr>
          <p:cNvPr id="5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00950" y="3028950"/>
            <a:ext cx="342900" cy="342900"/>
          </a:xfrm>
          <a:prstGeom prst="rect">
            <a:avLst/>
          </a:prstGeom>
        </p:spPr>
      </p:pic>
      <p:sp>
        <p:nvSpPr>
          <p:cNvPr id="56" name="Text 46"/>
          <p:cNvSpPr/>
          <p:nvPr/>
        </p:nvSpPr>
        <p:spPr>
          <a:xfrm>
            <a:off x="6995160" y="34747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Collaboration Finder</a:t>
            </a:r>
            <a:endParaRPr lang="en-US" sz="1000" dirty="0"/>
          </a:p>
        </p:txBody>
      </p:sp>
      <p:sp>
        <p:nvSpPr>
          <p:cNvPr id="57" name="Text 47"/>
          <p:cNvSpPr/>
          <p:nvPr/>
        </p:nvSpPr>
        <p:spPr>
          <a:xfrm>
            <a:off x="6995160" y="37490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8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Identifies cross-department partnerships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D2E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 &amp; Integrations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Modern, scalable and secure architecture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749808"/>
            <a:ext cx="1097280" cy="27432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4800600"/>
            <a:ext cx="8229600" cy="4572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FX Experience  ·  Freudenberg Group  ·  FollowLabs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0" y="48463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6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21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40080" y="1234440"/>
            <a:ext cx="3931920" cy="3337560"/>
          </a:xfrm>
          <a:prstGeom prst="rect">
            <a:avLst/>
          </a:prstGeom>
          <a:solidFill>
            <a:srgbClr val="1A2D47"/>
          </a:solidFill>
          <a:ln w="6350">
            <a:solidFill>
              <a:srgbClr val="8B691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234440"/>
            <a:ext cx="3895344" cy="36576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1371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Stack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1691640"/>
            <a:ext cx="731520" cy="27432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18288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874520" y="182880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15.3.8 (App Router)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" y="210312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874520" y="210312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+ TypeScript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" y="237744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Library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874520" y="23774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shadcn/ui (Radix Primitives)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960" y="265176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874520" y="265176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 + CSS Custom Properties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2960" y="292608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874520" y="292608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Framer Motion 11.5.7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" y="32004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874520" y="320040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Recharts (data visualization)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" y="347472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Icons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874520" y="347472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Lucide React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2960" y="374904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874520" y="37490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next-themes (light/dark mode)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" y="402336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i18n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874520" y="402336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LanguageContext (PT/EN/DE)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22960" y="429768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874520" y="429768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 (Google Fonts)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46320" y="1234440"/>
            <a:ext cx="3840480" cy="1143000"/>
          </a:xfrm>
          <a:prstGeom prst="rect">
            <a:avLst/>
          </a:prstGeom>
          <a:solidFill>
            <a:srgbClr val="1A2D47"/>
          </a:solidFill>
          <a:ln w="6350">
            <a:solidFill>
              <a:srgbClr val="8B691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64608" y="1234440"/>
            <a:ext cx="3803904" cy="36576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36" name="Shape 34"/>
          <p:cNvSpPr/>
          <p:nvPr/>
        </p:nvSpPr>
        <p:spPr>
          <a:xfrm>
            <a:off x="5029200" y="1325880"/>
            <a:ext cx="365760" cy="365760"/>
          </a:xfrm>
          <a:prstGeom prst="ellipse">
            <a:avLst/>
          </a:prstGeom>
          <a:solidFill>
            <a:srgbClr val="C5941A"/>
          </a:solidFill>
          <a:ln/>
        </p:spPr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1371600"/>
            <a:ext cx="274320" cy="274320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5486400" y="1325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Artificial Intelligence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5029200" y="1783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SKIPPER AI</a:t>
            </a:r>
            <a:pPr indent="0" marL="0">
              <a:buNone/>
            </a:pPr>
            <a:r>
              <a:rPr lang="en-US" sz="10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FollowLabs proprietary AI engine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846320" y="2560320"/>
            <a:ext cx="3840480" cy="2011680"/>
          </a:xfrm>
          <a:prstGeom prst="rect">
            <a:avLst/>
          </a:prstGeom>
          <a:solidFill>
            <a:srgbClr val="1A2D47"/>
          </a:solidFill>
          <a:ln w="6350">
            <a:solidFill>
              <a:srgbClr val="8B6914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864608" y="2560320"/>
            <a:ext cx="3803904" cy="36576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42" name="Text 39"/>
          <p:cNvSpPr/>
          <p:nvPr/>
        </p:nvSpPr>
        <p:spPr>
          <a:xfrm>
            <a:off x="5029200" y="2651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&amp; Infrastructure</a:t>
            </a:r>
            <a:endParaRPr lang="en-US" sz="1300" dirty="0"/>
          </a:p>
        </p:txBody>
      </p:sp>
      <p:sp>
        <p:nvSpPr>
          <p:cNvPr id="43" name="Shape 40"/>
          <p:cNvSpPr/>
          <p:nvPr/>
        </p:nvSpPr>
        <p:spPr>
          <a:xfrm>
            <a:off x="5029200" y="2971800"/>
            <a:ext cx="731520" cy="27432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44" name="Text 41"/>
          <p:cNvSpPr/>
          <p:nvPr/>
        </p:nvSpPr>
        <p:spPr>
          <a:xfrm>
            <a:off x="5029200" y="31089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Hosting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6217920" y="3108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Cloud — secure and scalable storage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5029200" y="34290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6217920" y="3429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SSO, OAuth2, MFA — integration with corporate identity providers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5029200" y="37490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Customization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6217920" y="3749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Adaptable to customer server (Freudenberg infrastructure)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5029200" y="40690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6217920" y="4069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customer operates in isolated and configurable environment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D2E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Multi-language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translation of entire platform — independent of who writes or views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749808"/>
            <a:ext cx="1097280" cy="27432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4800600"/>
            <a:ext cx="8229600" cy="4572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FX Experience  ·  Freudenberg Group  ·  FollowLabs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0" y="48463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6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21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1234440"/>
            <a:ext cx="4114800" cy="3337560"/>
          </a:xfrm>
          <a:prstGeom prst="rect">
            <a:avLst/>
          </a:prstGeom>
          <a:solidFill>
            <a:srgbClr val="1A2D47"/>
          </a:solidFill>
          <a:ln w="6350">
            <a:solidFill>
              <a:srgbClr val="8B691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" y="1234440"/>
            <a:ext cx="4078224" cy="36576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C5941A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7230" y="1428750"/>
            <a:ext cx="342900" cy="3429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234440" y="1417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40080" y="1828800"/>
            <a:ext cx="914400" cy="27432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16" name="Shape 13"/>
          <p:cNvSpPr/>
          <p:nvPr/>
        </p:nvSpPr>
        <p:spPr>
          <a:xfrm>
            <a:off x="640080" y="1965960"/>
            <a:ext cx="45720" cy="502920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17" name="Text 14"/>
          <p:cNvSpPr/>
          <p:nvPr/>
        </p:nvSpPr>
        <p:spPr>
          <a:xfrm>
            <a:off x="822960" y="198424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Interface Translation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22960" y="2167128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selecting a language (PT/EN/DE), the entire interface is translated instantly: menus, labels, buttons, tooltips and system messages.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40080" y="2542032"/>
            <a:ext cx="45720" cy="502920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20" name="Text 17"/>
          <p:cNvSpPr/>
          <p:nvPr/>
        </p:nvSpPr>
        <p:spPr>
          <a:xfrm>
            <a:off x="822960" y="256032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User-Generated Content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22960" y="2743200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written by anyone (diaries, ideas, comments, reports) is automatically translated into the language selected by the viewer.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40080" y="3118104"/>
            <a:ext cx="45720" cy="502920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23" name="Text 20"/>
          <p:cNvSpPr/>
          <p:nvPr/>
        </p:nvSpPr>
        <p:spPr>
          <a:xfrm>
            <a:off x="822960" y="313639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Independence from Origin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22960" y="3319272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matter what language the content was written in — each user sees everything in their preferred language, independent of the original author.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40080" y="3694176"/>
            <a:ext cx="45720" cy="502920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26" name="Text 23"/>
          <p:cNvSpPr/>
          <p:nvPr/>
        </p:nvSpPr>
        <p:spPr>
          <a:xfrm>
            <a:off x="822960" y="371246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Expandable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22960" y="3895344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support for PT/EN/DE with architecture ready for inclusion of any new language on demand.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754880" y="1234440"/>
            <a:ext cx="3931920" cy="1828800"/>
          </a:xfrm>
          <a:prstGeom prst="rect">
            <a:avLst/>
          </a:prstGeom>
          <a:solidFill>
            <a:srgbClr val="1A2D47"/>
          </a:solidFill>
          <a:ln w="6350">
            <a:solidFill>
              <a:srgbClr val="8B691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773168" y="1234440"/>
            <a:ext cx="3895344" cy="36576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30" name="Shape 27"/>
          <p:cNvSpPr/>
          <p:nvPr/>
        </p:nvSpPr>
        <p:spPr>
          <a:xfrm>
            <a:off x="4937760" y="1371600"/>
            <a:ext cx="457200" cy="457200"/>
          </a:xfrm>
          <a:prstGeom prst="ellipse">
            <a:avLst/>
          </a:prstGeom>
          <a:solidFill>
            <a:srgbClr val="293B5F"/>
          </a:solidFill>
          <a:ln/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4910" y="1428750"/>
            <a:ext cx="342900" cy="34290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5532120" y="1417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 Attachment Preview</a:t>
            </a:r>
            <a:endParaRPr lang="en-US" sz="1400" dirty="0"/>
          </a:p>
        </p:txBody>
      </p:sp>
      <p:sp>
        <p:nvSpPr>
          <p:cNvPr id="33" name="Shape 29"/>
          <p:cNvSpPr/>
          <p:nvPr/>
        </p:nvSpPr>
        <p:spPr>
          <a:xfrm>
            <a:off x="4937760" y="1828800"/>
            <a:ext cx="914400" cy="27432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34" name="Text 30"/>
          <p:cNvSpPr/>
          <p:nvPr/>
        </p:nvSpPr>
        <p:spPr>
          <a:xfrm>
            <a:off x="4937760" y="196596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Attached documents (PDFs, reports, forms) keep the original file intact.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selecting another language, the platform generates a </a:t>
            </a:r>
            <a:pPr indent="0" marL="0">
              <a:buNone/>
            </a:pPr>
            <a:r>
              <a:rPr lang="en-US" sz="1000" b="1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translated preview</a:t>
            </a:r>
            <a:pPr indent="0" marL="0">
              <a:buNone/>
            </a:pPr>
            <a:r>
              <a:rPr lang="en-US" sz="10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viewing, without changing the original document.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900" b="1" dirty="0">
                <a:solidFill>
                  <a:srgbClr val="E8C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Document (intact)  →  Preview in Selected Language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4754880" y="3246120"/>
            <a:ext cx="3931920" cy="1325880"/>
          </a:xfrm>
          <a:prstGeom prst="rect">
            <a:avLst/>
          </a:prstGeom>
          <a:solidFill>
            <a:srgbClr val="1A2D47"/>
          </a:solidFill>
          <a:ln w="6350">
            <a:solidFill>
              <a:srgbClr val="8B6914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4773168" y="3246120"/>
            <a:ext cx="3895344" cy="36576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37" name="Text 33"/>
          <p:cNvSpPr/>
          <p:nvPr/>
        </p:nvSpPr>
        <p:spPr>
          <a:xfrm>
            <a:off x="4937760" y="3337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Translation Flow</a:t>
            </a:r>
            <a:endParaRPr lang="en-US" sz="1200" dirty="0"/>
          </a:p>
        </p:txBody>
      </p:sp>
      <p:sp>
        <p:nvSpPr>
          <p:cNvPr id="38" name="Shape 34"/>
          <p:cNvSpPr/>
          <p:nvPr/>
        </p:nvSpPr>
        <p:spPr>
          <a:xfrm>
            <a:off x="5029200" y="3703320"/>
            <a:ext cx="1005840" cy="640080"/>
          </a:xfrm>
          <a:prstGeom prst="rect">
            <a:avLst/>
          </a:prstGeom>
          <a:solidFill>
            <a:srgbClr val="293B5F"/>
          </a:solidFill>
          <a:ln w="3810">
            <a:solidFill>
              <a:srgbClr val="3A557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5029200" y="370332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writes in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language</a:t>
            </a:r>
            <a:endParaRPr lang="en-US" sz="700" dirty="0"/>
          </a:p>
        </p:txBody>
      </p:sp>
      <p:sp>
        <p:nvSpPr>
          <p:cNvPr id="40" name="Text 36"/>
          <p:cNvSpPr/>
          <p:nvPr/>
        </p:nvSpPr>
        <p:spPr>
          <a:xfrm>
            <a:off x="6035040" y="370332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41" name="Shape 37"/>
          <p:cNvSpPr/>
          <p:nvPr/>
        </p:nvSpPr>
        <p:spPr>
          <a:xfrm>
            <a:off x="6400800" y="3703320"/>
            <a:ext cx="914400" cy="640080"/>
          </a:xfrm>
          <a:prstGeom prst="rect">
            <a:avLst/>
          </a:prstGeom>
          <a:solidFill>
            <a:srgbClr val="C5941A"/>
          </a:solidFill>
          <a:ln w="3810">
            <a:solidFill>
              <a:srgbClr val="8B6914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6400800" y="37033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SKIPPER AI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translates in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time</a:t>
            </a:r>
            <a:endParaRPr lang="en-US" sz="700" dirty="0"/>
          </a:p>
        </p:txBody>
      </p:sp>
      <p:sp>
        <p:nvSpPr>
          <p:cNvPr id="43" name="Text 39"/>
          <p:cNvSpPr/>
          <p:nvPr/>
        </p:nvSpPr>
        <p:spPr>
          <a:xfrm>
            <a:off x="7315200" y="370332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44" name="Shape 40"/>
          <p:cNvSpPr/>
          <p:nvPr/>
        </p:nvSpPr>
        <p:spPr>
          <a:xfrm>
            <a:off x="7680960" y="3703320"/>
            <a:ext cx="914400" cy="640080"/>
          </a:xfrm>
          <a:prstGeom prst="rect">
            <a:avLst/>
          </a:prstGeom>
          <a:solidFill>
            <a:srgbClr val="3A5280"/>
          </a:solidFill>
          <a:ln w="3810">
            <a:solidFill>
              <a:srgbClr val="3A5575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7680960" y="37033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Reader sees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selected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C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D2E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14400"/>
            <a:ext cx="6400800" cy="2926080"/>
          </a:xfrm>
          <a:prstGeom prst="rect">
            <a:avLst/>
          </a:prstGeom>
          <a:solidFill>
            <a:srgbClr val="1A2D47"/>
          </a:solidFill>
          <a:ln w="6350">
            <a:solidFill>
              <a:srgbClr val="2A40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097280"/>
            <a:ext cx="45720" cy="2286000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0972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FX Experience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005840" y="17373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C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Transforming global exchanges into high-impact experiences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103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8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Transforming global exchanges into high-impact experiences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05840" y="2926080"/>
            <a:ext cx="4572000" cy="18288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10896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Marcelo Gomes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7A8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Consultant — FollowLabs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E8C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+55 19 98408 8833  |  marcelo.gomes@followlabs.com.br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E8C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www.followlabs.com.br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132320" y="1371600"/>
            <a:ext cx="1280160" cy="1280160"/>
          </a:xfrm>
          <a:prstGeom prst="ellipse">
            <a:avLst/>
          </a:prstGeom>
          <a:solidFill>
            <a:srgbClr val="C5941A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2340" y="1531620"/>
            <a:ext cx="960120" cy="960120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4389120"/>
            <a:ext cx="1645920" cy="4114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858000" y="4846320"/>
            <a:ext cx="2011680" cy="228600"/>
          </a:xfrm>
          <a:prstGeom prst="rect">
            <a:avLst/>
          </a:prstGeom>
          <a:solidFill>
            <a:srgbClr val="8B6914"/>
          </a:solidFill>
          <a:ln w="3810">
            <a:solidFill>
              <a:srgbClr val="C5941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858000" y="48463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C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D2E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93B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 |  Platform Access Instructions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9144000" cy="27432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4800600"/>
            <a:ext cx="8229600" cy="4572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FX Experience  ·  Freudenberg Group  ·  FollowLabs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0" y="48463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6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21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777240"/>
            <a:ext cx="4023360" cy="3840480"/>
          </a:xfrm>
          <a:prstGeom prst="rect">
            <a:avLst/>
          </a:prstGeom>
          <a:solidFill>
            <a:srgbClr val="1A2D47"/>
          </a:solidFill>
          <a:ln w="6350">
            <a:solidFill>
              <a:srgbClr val="8B691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" y="777240"/>
            <a:ext cx="3986784" cy="36576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914400"/>
            <a:ext cx="411480" cy="411480"/>
          </a:xfrm>
          <a:prstGeom prst="ellipse">
            <a:avLst/>
          </a:prstGeom>
          <a:solidFill>
            <a:srgbClr val="293B5F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515" y="965835"/>
            <a:ext cx="308610" cy="30861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143000" y="9144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Client Portal Access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40080" y="1371600"/>
            <a:ext cx="731520" cy="27432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the client portal and click on </a:t>
            </a:r>
            <a:pPr indent="0" marL="0">
              <a:buNone/>
            </a:pPr>
            <a:r>
              <a:rPr lang="en-US" sz="1000" b="1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"Access to Client"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40080" y="1920240"/>
            <a:ext cx="3657600" cy="1005840"/>
          </a:xfrm>
          <a:prstGeom prst="rect">
            <a:avLst/>
          </a:prstGeom>
          <a:solidFill>
            <a:srgbClr val="162236"/>
          </a:solidFill>
          <a:ln w="6350">
            <a:solidFill>
              <a:srgbClr val="8B691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0080" y="1920240"/>
            <a:ext cx="45720" cy="1005840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19" name="Text 16"/>
          <p:cNvSpPr/>
          <p:nvPr/>
        </p:nvSpPr>
        <p:spPr>
          <a:xfrm>
            <a:off x="868680" y="19659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C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Credenciais / Credentials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7A8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URL:  </a:t>
            </a:r>
            <a:pPr indent="0" marL="0">
              <a:buNone/>
            </a:pPr>
            <a:r>
              <a:rPr lang="en-US" sz="1000" b="1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followlabs.com.br/acessocliente/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7A8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Login: 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Freudenberg</a:t>
            </a:r>
            <a:pPr indent="0" marL="0">
              <a:buNone/>
            </a:pPr>
            <a:r>
              <a:rPr lang="en-US" sz="1000" dirty="0">
                <a:solidFill>
                  <a:srgbClr val="7A8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Senha: 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123456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40080" y="3063240"/>
            <a:ext cx="320040" cy="256032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306324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051560" y="30632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in with the credentials above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40080" y="3364992"/>
            <a:ext cx="320040" cy="256032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24" name="Text 21"/>
          <p:cNvSpPr/>
          <p:nvPr/>
        </p:nvSpPr>
        <p:spPr>
          <a:xfrm>
            <a:off x="640080" y="3364992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051560" y="33649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the demo video (EN/PT)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40080" y="3666744"/>
            <a:ext cx="320040" cy="256032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27" name="Text 24"/>
          <p:cNvSpPr/>
          <p:nvPr/>
        </p:nvSpPr>
        <p:spPr>
          <a:xfrm>
            <a:off x="640080" y="3666744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51560" y="36667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on "Login" in the top right corner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40080" y="3968496"/>
            <a:ext cx="320040" cy="256032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30" name="Text 27"/>
          <p:cNvSpPr/>
          <p:nvPr/>
        </p:nvSpPr>
        <p:spPr>
          <a:xfrm>
            <a:off x="640080" y="3968496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051560" y="396849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FX Experience screen, click on the gold "Login" button (no password)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640080" y="4270248"/>
            <a:ext cx="320040" cy="256032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33" name="Text 30"/>
          <p:cNvSpPr/>
          <p:nvPr/>
        </p:nvSpPr>
        <p:spPr>
          <a:xfrm>
            <a:off x="640080" y="4270248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051560" y="42702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modules and switch views (Mentee, Manager, Mentor, Admin)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663440" y="777240"/>
            <a:ext cx="4023360" cy="2011680"/>
          </a:xfrm>
          <a:prstGeom prst="rect">
            <a:avLst/>
          </a:prstGeom>
          <a:solidFill>
            <a:srgbClr val="1A2D47"/>
          </a:solidFill>
          <a:ln w="6350">
            <a:solidFill>
              <a:srgbClr val="8B6914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681728" y="777240"/>
            <a:ext cx="3986784" cy="36576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37" name="Shape 34"/>
          <p:cNvSpPr/>
          <p:nvPr/>
        </p:nvSpPr>
        <p:spPr>
          <a:xfrm>
            <a:off x="4846320" y="914400"/>
            <a:ext cx="411480" cy="411480"/>
          </a:xfrm>
          <a:prstGeom prst="ellipse">
            <a:avLst/>
          </a:prstGeom>
          <a:solidFill>
            <a:srgbClr val="C5941A"/>
          </a:solidFill>
          <a:ln/>
        </p:spPr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755" y="965835"/>
            <a:ext cx="308610" cy="308610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5349240" y="9144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 Features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4846320" y="1371600"/>
            <a:ext cx="731520" cy="27432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41" name="Text 37"/>
          <p:cNvSpPr/>
          <p:nvPr/>
        </p:nvSpPr>
        <p:spPr>
          <a:xfrm>
            <a:off x="4846320" y="14630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View</a:t>
            </a:r>
            <a:endParaRPr lang="en-US" sz="900" dirty="0"/>
          </a:p>
        </p:txBody>
      </p:sp>
      <p:sp>
        <p:nvSpPr>
          <p:cNvPr id="42" name="Text 38"/>
          <p:cNvSpPr/>
          <p:nvPr/>
        </p:nvSpPr>
        <p:spPr>
          <a:xfrm>
            <a:off x="6126480" y="14630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between Mentee, Manager, Mentor and Admin</a:t>
            </a:r>
            <a:endParaRPr lang="en-US" sz="900" dirty="0"/>
          </a:p>
        </p:txBody>
      </p:sp>
      <p:sp>
        <p:nvSpPr>
          <p:cNvPr id="43" name="Text 39"/>
          <p:cNvSpPr/>
          <p:nvPr/>
        </p:nvSpPr>
        <p:spPr>
          <a:xfrm>
            <a:off x="4846320" y="175564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Themes</a:t>
            </a:r>
            <a:endParaRPr lang="en-US" sz="900" dirty="0"/>
          </a:p>
        </p:txBody>
      </p:sp>
      <p:sp>
        <p:nvSpPr>
          <p:cNvPr id="44" name="Text 40"/>
          <p:cNvSpPr/>
          <p:nvPr/>
        </p:nvSpPr>
        <p:spPr>
          <a:xfrm>
            <a:off x="6126480" y="17556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from visual themes (sun, water, star)</a:t>
            </a:r>
            <a:endParaRPr lang="en-US" sz="900" dirty="0"/>
          </a:p>
        </p:txBody>
      </p:sp>
      <p:sp>
        <p:nvSpPr>
          <p:cNvPr id="45" name="Text 41"/>
          <p:cNvSpPr/>
          <p:nvPr/>
        </p:nvSpPr>
        <p:spPr>
          <a:xfrm>
            <a:off x="4846320" y="204825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900" dirty="0"/>
          </a:p>
        </p:txBody>
      </p:sp>
      <p:sp>
        <p:nvSpPr>
          <p:cNvPr id="46" name="Text 42"/>
          <p:cNvSpPr/>
          <p:nvPr/>
        </p:nvSpPr>
        <p:spPr>
          <a:xfrm>
            <a:off x="6126480" y="204825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Portuguese, English or German</a:t>
            </a:r>
            <a:endParaRPr lang="en-US" sz="900" dirty="0"/>
          </a:p>
        </p:txBody>
      </p:sp>
      <p:sp>
        <p:nvSpPr>
          <p:cNvPr id="47" name="Text 43"/>
          <p:cNvSpPr/>
          <p:nvPr/>
        </p:nvSpPr>
        <p:spPr>
          <a:xfrm>
            <a:off x="4846320" y="234086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Support</a:t>
            </a:r>
            <a:endParaRPr lang="en-US" sz="900" dirty="0"/>
          </a:p>
        </p:txBody>
      </p:sp>
      <p:sp>
        <p:nvSpPr>
          <p:cNvPr id="48" name="Text 44"/>
          <p:cNvSpPr/>
          <p:nvPr/>
        </p:nvSpPr>
        <p:spPr>
          <a:xfrm>
            <a:off x="6126480" y="234086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access to Human Resources support</a:t>
            </a:r>
            <a:endParaRPr lang="en-US" sz="900" dirty="0"/>
          </a:p>
        </p:txBody>
      </p:sp>
      <p:sp>
        <p:nvSpPr>
          <p:cNvPr id="49" name="Shape 45"/>
          <p:cNvSpPr/>
          <p:nvPr/>
        </p:nvSpPr>
        <p:spPr>
          <a:xfrm>
            <a:off x="4663440" y="2971800"/>
            <a:ext cx="4023360" cy="1645920"/>
          </a:xfrm>
          <a:prstGeom prst="rect">
            <a:avLst/>
          </a:prstGeom>
          <a:solidFill>
            <a:srgbClr val="1A2D47"/>
          </a:solidFill>
          <a:ln w="6350">
            <a:solidFill>
              <a:srgbClr val="8B6914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4681728" y="2971800"/>
            <a:ext cx="3986784" cy="36576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51" name="Text 47"/>
          <p:cNvSpPr/>
          <p:nvPr/>
        </p:nvSpPr>
        <p:spPr>
          <a:xfrm>
            <a:off x="4846320" y="3063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Notes</a:t>
            </a:r>
            <a:endParaRPr lang="en-US" sz="1200" dirty="0"/>
          </a:p>
        </p:txBody>
      </p:sp>
      <p:sp>
        <p:nvSpPr>
          <p:cNvPr id="52" name="Shape 48"/>
          <p:cNvSpPr/>
          <p:nvPr/>
        </p:nvSpPr>
        <p:spPr>
          <a:xfrm>
            <a:off x="4846320" y="3337560"/>
            <a:ext cx="731520" cy="27432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53" name="Text 49"/>
          <p:cNvSpPr/>
          <p:nvPr/>
        </p:nvSpPr>
        <p:spPr>
          <a:xfrm>
            <a:off x="4846320" y="34290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</a:t>
            </a:r>
            <a:pPr indent="0" marL="0">
              <a:buNone/>
            </a:pPr>
            <a:r>
              <a:rPr lang="en-US" sz="9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Prototype: may contain language errors or non-functional items — demonstrative in nature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</a:t>
            </a:r>
            <a:pPr indent="0" marL="0">
              <a:buNone/>
            </a:pPr>
            <a:r>
              <a:rPr lang="en-US" sz="9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possible to integrate training and event manager as additional tool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</a:t>
            </a:r>
            <a:pPr indent="0" marL="0">
              <a:buNone/>
            </a:pPr>
            <a:r>
              <a:rPr lang="en-US" sz="9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Freudy AI available as text chatbot and video avatar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C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D2E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1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 |  Demo Video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0" y="1188720"/>
            <a:ext cx="1828800" cy="1828800"/>
          </a:xfrm>
          <a:prstGeom prst="ellipse">
            <a:avLst/>
          </a:prstGeom>
          <a:solidFill>
            <a:srgbClr val="C5941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141732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the Platform Demo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14400" y="3611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A8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the Platform Demo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286000" y="4114800"/>
            <a:ext cx="4572000" cy="548640"/>
          </a:xfrm>
          <a:prstGeom prst="rect">
            <a:avLst/>
          </a:prstGeom>
          <a:solidFill>
            <a:srgbClr val="C5941A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10" name="Text 7">
            <a:hlinkClick r:id="rIdundefined" tooltip=""/>
          </p:cNvPr>
          <p:cNvSpPr/>
          <p:nvPr/>
        </p:nvSpPr>
        <p:spPr>
          <a:xfrm>
            <a:off x="2286000" y="41148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undefined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https://youtu.be/0s-wRBkWJ0c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14400" y="47091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in English  |  Disponível em Inglês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858000" y="4846320"/>
            <a:ext cx="2011680" cy="228600"/>
          </a:xfrm>
          <a:prstGeom prst="rect">
            <a:avLst/>
          </a:prstGeom>
          <a:solidFill>
            <a:srgbClr val="8B6914"/>
          </a:solidFill>
          <a:ln w="3810">
            <a:solidFill>
              <a:srgbClr val="C5941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0" y="48463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C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C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D2E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93B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 |  Access Simulation &amp; Notes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9144000" cy="27432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4800600"/>
            <a:ext cx="8229600" cy="4572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FX Experience  ·  Freudenberg Group  ·  FollowLabs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0" y="48463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6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21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777240"/>
            <a:ext cx="4023360" cy="3840480"/>
          </a:xfrm>
          <a:prstGeom prst="rect">
            <a:avLst/>
          </a:prstGeom>
          <a:solidFill>
            <a:srgbClr val="1A2D47"/>
          </a:solidFill>
          <a:ln w="6350">
            <a:solidFill>
              <a:srgbClr val="8B691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" y="777240"/>
            <a:ext cx="3986784" cy="36576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914400"/>
            <a:ext cx="457200" cy="457200"/>
          </a:xfrm>
          <a:prstGeom prst="ellipse">
            <a:avLst/>
          </a:prstGeom>
          <a:solidFill>
            <a:srgbClr val="C5941A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7230" y="971550"/>
            <a:ext cx="342900" cy="3429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234440" y="960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Profile Simulation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40080" y="1371600"/>
            <a:ext cx="914400" cy="27432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" y="15087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demo allows you to simulate the complete experience of each user profile through the selector </a:t>
            </a:r>
            <a:pPr indent="0" marL="0">
              <a:buNone/>
            </a:pPr>
            <a:r>
              <a:rPr lang="en-US" sz="1100" b="1" dirty="0">
                <a:solidFill>
                  <a:srgbClr val="C59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"Simulate View As"</a:t>
            </a:r>
            <a:pPr indent="0" marL="0">
              <a:buNone/>
            </a:pPr>
            <a:r>
              <a:rPr lang="en-US" sz="11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the platform header: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40080" y="2194560"/>
            <a:ext cx="3657600" cy="548640"/>
          </a:xfrm>
          <a:prstGeom prst="rect">
            <a:avLst/>
          </a:prstGeom>
          <a:solidFill>
            <a:srgbClr val="162236"/>
          </a:solidFill>
          <a:ln w="3810">
            <a:solidFill>
              <a:srgbClr val="2A406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0080" y="2194560"/>
            <a:ext cx="45720" cy="548640"/>
          </a:xfrm>
          <a:prstGeom prst="rect">
            <a:avLst/>
          </a:prstGeom>
          <a:solidFill>
            <a:srgbClr val="293B5F"/>
          </a:solidFill>
          <a:ln/>
        </p:spPr>
      </p:sp>
      <p:sp>
        <p:nvSpPr>
          <p:cNvPr id="19" name="Shape 16"/>
          <p:cNvSpPr/>
          <p:nvPr/>
        </p:nvSpPr>
        <p:spPr>
          <a:xfrm>
            <a:off x="777240" y="2267712"/>
            <a:ext cx="384048" cy="384048"/>
          </a:xfrm>
          <a:prstGeom prst="ellipse">
            <a:avLst/>
          </a:prstGeom>
          <a:solidFill>
            <a:srgbClr val="293B5F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246" y="2315718"/>
            <a:ext cx="288036" cy="288036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280160" y="221284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Mentored User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1280160" y="24231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8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Participant view: Diary, Exchange Center, Learning Hub, Innovation Labs, Mentorship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640080" y="2816352"/>
            <a:ext cx="3657600" cy="548640"/>
          </a:xfrm>
          <a:prstGeom prst="rect">
            <a:avLst/>
          </a:prstGeom>
          <a:solidFill>
            <a:srgbClr val="162236"/>
          </a:solidFill>
          <a:ln w="3810">
            <a:solidFill>
              <a:srgbClr val="2A4060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40080" y="2816352"/>
            <a:ext cx="45720" cy="548640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25" name="Shape 21"/>
          <p:cNvSpPr/>
          <p:nvPr/>
        </p:nvSpPr>
        <p:spPr>
          <a:xfrm>
            <a:off x="777240" y="2889504"/>
            <a:ext cx="384048" cy="384048"/>
          </a:xfrm>
          <a:prstGeom prst="ellipse">
            <a:avLst/>
          </a:prstGeom>
          <a:solidFill>
            <a:srgbClr val="C5941A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246" y="2937510"/>
            <a:ext cx="288036" cy="28803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280160" y="283464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1280160" y="30449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8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 view: Approvals, Innovation and Learning Analytics, Mentorship</a:t>
            </a:r>
            <a:endParaRPr lang="en-US" sz="800" dirty="0"/>
          </a:p>
        </p:txBody>
      </p:sp>
      <p:sp>
        <p:nvSpPr>
          <p:cNvPr id="29" name="Shape 24"/>
          <p:cNvSpPr/>
          <p:nvPr/>
        </p:nvSpPr>
        <p:spPr>
          <a:xfrm>
            <a:off x="640080" y="3438144"/>
            <a:ext cx="3657600" cy="548640"/>
          </a:xfrm>
          <a:prstGeom prst="rect">
            <a:avLst/>
          </a:prstGeom>
          <a:solidFill>
            <a:srgbClr val="162236"/>
          </a:solidFill>
          <a:ln w="3810">
            <a:solidFill>
              <a:srgbClr val="2A4060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640080" y="3438144"/>
            <a:ext cx="45720" cy="548640"/>
          </a:xfrm>
          <a:prstGeom prst="rect">
            <a:avLst/>
          </a:prstGeom>
          <a:solidFill>
            <a:srgbClr val="3A5280"/>
          </a:solidFill>
          <a:ln/>
        </p:spPr>
      </p:sp>
      <p:sp>
        <p:nvSpPr>
          <p:cNvPr id="31" name="Shape 26"/>
          <p:cNvSpPr/>
          <p:nvPr/>
        </p:nvSpPr>
        <p:spPr>
          <a:xfrm>
            <a:off x="777240" y="3511296"/>
            <a:ext cx="384048" cy="384048"/>
          </a:xfrm>
          <a:prstGeom prst="ellipse">
            <a:avLst/>
          </a:prstGeom>
          <a:solidFill>
            <a:srgbClr val="3A5280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246" y="3559302"/>
            <a:ext cx="288036" cy="288036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280160" y="345643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1280160" y="366674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8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 view: Mentee management, Others' Diary, Reports, Calendar</a:t>
            </a:r>
            <a:endParaRPr lang="en-US" sz="800" dirty="0"/>
          </a:p>
        </p:txBody>
      </p:sp>
      <p:sp>
        <p:nvSpPr>
          <p:cNvPr id="35" name="Shape 29"/>
          <p:cNvSpPr/>
          <p:nvPr/>
        </p:nvSpPr>
        <p:spPr>
          <a:xfrm>
            <a:off x="640080" y="4059936"/>
            <a:ext cx="3657600" cy="548640"/>
          </a:xfrm>
          <a:prstGeom prst="rect">
            <a:avLst/>
          </a:prstGeom>
          <a:solidFill>
            <a:srgbClr val="162236"/>
          </a:solidFill>
          <a:ln w="3810">
            <a:solidFill>
              <a:srgbClr val="2A4060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640080" y="4059936"/>
            <a:ext cx="45720" cy="548640"/>
          </a:xfrm>
          <a:prstGeom prst="rect">
            <a:avLst/>
          </a:prstGeom>
          <a:solidFill>
            <a:srgbClr val="5B7B9D"/>
          </a:solidFill>
          <a:ln/>
        </p:spPr>
      </p:sp>
      <p:sp>
        <p:nvSpPr>
          <p:cNvPr id="37" name="Shape 31"/>
          <p:cNvSpPr/>
          <p:nvPr/>
        </p:nvSpPr>
        <p:spPr>
          <a:xfrm>
            <a:off x="777240" y="4133088"/>
            <a:ext cx="384048" cy="384048"/>
          </a:xfrm>
          <a:prstGeom prst="ellipse">
            <a:avLst/>
          </a:prstGeom>
          <a:solidFill>
            <a:srgbClr val="5B7B9D"/>
          </a:solidFill>
          <a:ln/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246" y="4181094"/>
            <a:ext cx="288036" cy="288036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1280160" y="407822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Administrator</a:t>
            </a:r>
            <a:endParaRPr lang="en-US" sz="1100" dirty="0"/>
          </a:p>
        </p:txBody>
      </p:sp>
      <p:sp>
        <p:nvSpPr>
          <p:cNvPr id="40" name="Text 33"/>
          <p:cNvSpPr/>
          <p:nvPr/>
        </p:nvSpPr>
        <p:spPr>
          <a:xfrm>
            <a:off x="1280160" y="428853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A8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view: Admin Dashboard, Settings, Data Export, Unit Management</a:t>
            </a:r>
            <a:endParaRPr lang="en-US" sz="800" dirty="0"/>
          </a:p>
        </p:txBody>
      </p:sp>
      <p:sp>
        <p:nvSpPr>
          <p:cNvPr id="41" name="Shape 34"/>
          <p:cNvSpPr/>
          <p:nvPr/>
        </p:nvSpPr>
        <p:spPr>
          <a:xfrm>
            <a:off x="4663440" y="777240"/>
            <a:ext cx="4023360" cy="3840480"/>
          </a:xfrm>
          <a:prstGeom prst="rect">
            <a:avLst/>
          </a:prstGeom>
          <a:solidFill>
            <a:srgbClr val="1A2D47"/>
          </a:solidFill>
          <a:ln w="6350">
            <a:solidFill>
              <a:srgbClr val="8B6914"/>
            </a:solidFill>
            <a:prstDash val="solid"/>
          </a:ln>
        </p:spPr>
      </p:sp>
      <p:sp>
        <p:nvSpPr>
          <p:cNvPr id="42" name="Shape 35"/>
          <p:cNvSpPr/>
          <p:nvPr/>
        </p:nvSpPr>
        <p:spPr>
          <a:xfrm>
            <a:off x="4681728" y="777240"/>
            <a:ext cx="3986784" cy="36576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43" name="Shape 36"/>
          <p:cNvSpPr/>
          <p:nvPr/>
        </p:nvSpPr>
        <p:spPr>
          <a:xfrm>
            <a:off x="4846320" y="914400"/>
            <a:ext cx="457200" cy="457200"/>
          </a:xfrm>
          <a:prstGeom prst="ellipse">
            <a:avLst/>
          </a:prstGeom>
          <a:solidFill>
            <a:srgbClr val="293B5F"/>
          </a:solidFill>
          <a:ln/>
        </p:spPr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3470" y="971550"/>
            <a:ext cx="342900" cy="342900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5440680" y="960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Notes</a:t>
            </a:r>
            <a:endParaRPr lang="en-US" sz="1400" dirty="0"/>
          </a:p>
        </p:txBody>
      </p:sp>
      <p:sp>
        <p:nvSpPr>
          <p:cNvPr id="46" name="Shape 38"/>
          <p:cNvSpPr/>
          <p:nvPr/>
        </p:nvSpPr>
        <p:spPr>
          <a:xfrm>
            <a:off x="4846320" y="1371600"/>
            <a:ext cx="914400" cy="27432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47" name="Shape 39"/>
          <p:cNvSpPr/>
          <p:nvPr/>
        </p:nvSpPr>
        <p:spPr>
          <a:xfrm>
            <a:off x="4846320" y="1508760"/>
            <a:ext cx="3657600" cy="530352"/>
          </a:xfrm>
          <a:prstGeom prst="rect">
            <a:avLst/>
          </a:prstGeom>
          <a:solidFill>
            <a:srgbClr val="162236"/>
          </a:solidFill>
          <a:ln w="3810">
            <a:solidFill>
              <a:srgbClr val="8B6914"/>
            </a:solidFill>
            <a:prstDash val="solid"/>
          </a:ln>
        </p:spPr>
      </p:sp>
      <p:sp>
        <p:nvSpPr>
          <p:cNvPr id="48" name="Shape 40"/>
          <p:cNvSpPr/>
          <p:nvPr/>
        </p:nvSpPr>
        <p:spPr>
          <a:xfrm>
            <a:off x="4846320" y="1508760"/>
            <a:ext cx="45720" cy="530352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49" name="Text 41"/>
          <p:cNvSpPr/>
          <p:nvPr/>
        </p:nvSpPr>
        <p:spPr>
          <a:xfrm>
            <a:off x="5029200" y="1536192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C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Version</a:t>
            </a:r>
            <a:endParaRPr lang="en-US" sz="1000" dirty="0"/>
          </a:p>
        </p:txBody>
      </p:sp>
      <p:sp>
        <p:nvSpPr>
          <p:cNvPr id="50" name="Text 42"/>
          <p:cNvSpPr/>
          <p:nvPr/>
        </p:nvSpPr>
        <p:spPr>
          <a:xfrm>
            <a:off x="5029200" y="1691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demo version for presentation and validation purposes. Features may exhibit partial or simulated behaviors.</a:t>
            </a:r>
            <a:endParaRPr lang="en-US" sz="800" dirty="0"/>
          </a:p>
        </p:txBody>
      </p:sp>
      <p:sp>
        <p:nvSpPr>
          <p:cNvPr id="51" name="Shape 43"/>
          <p:cNvSpPr/>
          <p:nvPr/>
        </p:nvSpPr>
        <p:spPr>
          <a:xfrm>
            <a:off x="4846320" y="2103120"/>
            <a:ext cx="3657600" cy="530352"/>
          </a:xfrm>
          <a:prstGeom prst="rect">
            <a:avLst/>
          </a:prstGeom>
          <a:solidFill>
            <a:srgbClr val="162236"/>
          </a:solidFill>
          <a:ln w="3810">
            <a:solidFill>
              <a:srgbClr val="8B6914"/>
            </a:solidFill>
            <a:prstDash val="solid"/>
          </a:ln>
        </p:spPr>
      </p:sp>
      <p:sp>
        <p:nvSpPr>
          <p:cNvPr id="52" name="Shape 44"/>
          <p:cNvSpPr/>
          <p:nvPr/>
        </p:nvSpPr>
        <p:spPr>
          <a:xfrm>
            <a:off x="4846320" y="2103120"/>
            <a:ext cx="45720" cy="530352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53" name="Text 45"/>
          <p:cNvSpPr/>
          <p:nvPr/>
        </p:nvSpPr>
        <p:spPr>
          <a:xfrm>
            <a:off x="5029200" y="2130552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C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&amp; Branding Policy</a:t>
            </a:r>
            <a:endParaRPr lang="en-US" sz="1000" dirty="0"/>
          </a:p>
        </p:txBody>
      </p:sp>
      <p:sp>
        <p:nvSpPr>
          <p:cNvPr id="54" name="Text 46"/>
          <p:cNvSpPr/>
          <p:nvPr/>
        </p:nvSpPr>
        <p:spPr>
          <a:xfrm>
            <a:off x="5029200" y="22860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current visual design (colors, typography, Glass &amp; Gold layout) is demonstrative. The final version will be adjusted according to Freudenberg's branding policy and visual guidelines.</a:t>
            </a:r>
            <a:endParaRPr lang="en-US" sz="800" dirty="0"/>
          </a:p>
        </p:txBody>
      </p:sp>
      <p:sp>
        <p:nvSpPr>
          <p:cNvPr id="55" name="Shape 47"/>
          <p:cNvSpPr/>
          <p:nvPr/>
        </p:nvSpPr>
        <p:spPr>
          <a:xfrm>
            <a:off x="4846320" y="2697480"/>
            <a:ext cx="3657600" cy="530352"/>
          </a:xfrm>
          <a:prstGeom prst="rect">
            <a:avLst/>
          </a:prstGeom>
          <a:solidFill>
            <a:srgbClr val="162236"/>
          </a:solidFill>
          <a:ln w="3810">
            <a:solidFill>
              <a:srgbClr val="8B6914"/>
            </a:solidFill>
            <a:prstDash val="solid"/>
          </a:ln>
        </p:spPr>
      </p:sp>
      <p:sp>
        <p:nvSpPr>
          <p:cNvPr id="56" name="Shape 48"/>
          <p:cNvSpPr/>
          <p:nvPr/>
        </p:nvSpPr>
        <p:spPr>
          <a:xfrm>
            <a:off x="4846320" y="2697480"/>
            <a:ext cx="45720" cy="530352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57" name="Text 49"/>
          <p:cNvSpPr/>
          <p:nvPr/>
        </p:nvSpPr>
        <p:spPr>
          <a:xfrm>
            <a:off x="5029200" y="2724912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C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Palette &amp; Identity</a:t>
            </a:r>
            <a:endParaRPr lang="en-US" sz="1000" dirty="0"/>
          </a:p>
        </p:txBody>
      </p:sp>
      <p:sp>
        <p:nvSpPr>
          <p:cNvPr id="58" name="Text 50"/>
          <p:cNvSpPr/>
          <p:nvPr/>
        </p:nvSpPr>
        <p:spPr>
          <a:xfrm>
            <a:off x="5029200" y="2880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color palette will be customized according to the client's official brand guidelines. The current colors serve only as a style reference.</a:t>
            </a:r>
            <a:endParaRPr lang="en-US" sz="800" dirty="0"/>
          </a:p>
        </p:txBody>
      </p:sp>
      <p:sp>
        <p:nvSpPr>
          <p:cNvPr id="59" name="Shape 51"/>
          <p:cNvSpPr/>
          <p:nvPr/>
        </p:nvSpPr>
        <p:spPr>
          <a:xfrm>
            <a:off x="4846320" y="3291840"/>
            <a:ext cx="3657600" cy="530352"/>
          </a:xfrm>
          <a:prstGeom prst="rect">
            <a:avLst/>
          </a:prstGeom>
          <a:solidFill>
            <a:srgbClr val="162236"/>
          </a:solidFill>
          <a:ln w="3810">
            <a:solidFill>
              <a:srgbClr val="8B6914"/>
            </a:solidFill>
            <a:prstDash val="solid"/>
          </a:ln>
        </p:spPr>
      </p:sp>
      <p:sp>
        <p:nvSpPr>
          <p:cNvPr id="60" name="Shape 52"/>
          <p:cNvSpPr/>
          <p:nvPr/>
        </p:nvSpPr>
        <p:spPr>
          <a:xfrm>
            <a:off x="4846320" y="3291840"/>
            <a:ext cx="45720" cy="530352"/>
          </a:xfrm>
          <a:prstGeom prst="rect">
            <a:avLst/>
          </a:prstGeom>
          <a:solidFill>
            <a:srgbClr val="C5941A"/>
          </a:solidFill>
          <a:ln/>
        </p:spPr>
      </p:sp>
      <p:sp>
        <p:nvSpPr>
          <p:cNvPr id="61" name="Text 53"/>
          <p:cNvSpPr/>
          <p:nvPr/>
        </p:nvSpPr>
        <p:spPr>
          <a:xfrm>
            <a:off x="5029200" y="3319272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C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 Usage</a:t>
            </a:r>
            <a:endParaRPr lang="en-US" sz="1000" dirty="0"/>
          </a:p>
        </p:txBody>
      </p:sp>
      <p:sp>
        <p:nvSpPr>
          <p:cNvPr id="62" name="Text 54"/>
          <p:cNvSpPr/>
          <p:nvPr/>
        </p:nvSpPr>
        <p:spPr>
          <a:xfrm>
            <a:off x="5029200" y="3474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C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logos displayed on the platform (Freudenberg, business units) are purely illustrative. The final application will follow approved brand usage standards.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4846320"/>
            <a:ext cx="2011680" cy="228600"/>
          </a:xfrm>
          <a:prstGeom prst="rect">
            <a:avLst/>
          </a:prstGeom>
          <a:solidFill>
            <a:srgbClr val="8B6914"/>
          </a:solidFill>
          <a:ln w="3810">
            <a:solidFill>
              <a:srgbClr val="C59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48463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C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FX Experience — Executive Presentation</dc:title>
  <dc:subject>PptxGenJS Presentation</dc:subject>
  <dc:creator>Marcelo Gomes — FollowLabs</dc:creator>
  <cp:lastModifiedBy>Marcelo Gomes — FollowLabs</cp:lastModifiedBy>
  <cp:revision>1</cp:revision>
  <dcterms:created xsi:type="dcterms:W3CDTF">2026-03-12T22:45:38Z</dcterms:created>
  <dcterms:modified xsi:type="dcterms:W3CDTF">2026-03-12T22:45:38Z</dcterms:modified>
</cp:coreProperties>
</file>